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95d9c44d93f9429f" /><Relationship Type="http://schemas.openxmlformats.org/officeDocument/2006/relationships/extended-properties" Target="/docProps/app.xml" Id="Rc4daa155770f49d8" /><Relationship Type="http://schemas.openxmlformats.org/officeDocument/2006/relationships/officeDocument" Target="/ppt/presentation.xml" Id="R718d24c404e64f83" /></Relationships>
</file>

<file path=ppt/presentation.xml><?xml version="1.0" encoding="utf-8"?>
<p:presentation xmlns:p="http://schemas.openxmlformats.org/presentationml/2006/main">
  <p:sldMasterIdLst>
    <p:sldMasterId xmlns:r="http://schemas.openxmlformats.org/officeDocument/2006/relationships" id="2147483648" r:id="Rdba7f5bc50854e67"/>
  </p:sldMasterIdLst>
  <p:notesMasterIdLst>
    <p:notesMasterId xmlns:r="http://schemas.openxmlformats.org/officeDocument/2006/relationships" r:id="R85b642c2bd214393"/>
  </p:notesMasterIdLst>
  <p:sldIdLst>
    <p:sldId xmlns:r="http://schemas.openxmlformats.org/officeDocument/2006/relationships" id="256" r:id="R66ca3fd6b3694372"/>
    <p:sldId xmlns:r="http://schemas.openxmlformats.org/officeDocument/2006/relationships" id="257" r:id="R685a1f8522ad4b8a"/>
    <p:sldId xmlns:r="http://schemas.openxmlformats.org/officeDocument/2006/relationships" id="258" r:id="Re3a25c3427ab4910"/>
    <p:sldId xmlns:r="http://schemas.openxmlformats.org/officeDocument/2006/relationships" id="259" r:id="R0446ce6082324c19"/>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a5ad5a61c2d84b4f" /><Relationship Type="http://schemas.openxmlformats.org/officeDocument/2006/relationships/slideMaster" Target="/ppt/slideMasters/slideMaster1.xml" Id="Rdba7f5bc50854e67" /><Relationship Type="http://schemas.openxmlformats.org/officeDocument/2006/relationships/notesMaster" Target="/ppt/notesMasters/notesMaster1.xml" Id="R85b642c2bd214393" /><Relationship Type="http://schemas.openxmlformats.org/officeDocument/2006/relationships/presProps" Target="/ppt/presProps.xml" Id="R81a7969db9f94a08" /><Relationship Type="http://schemas.openxmlformats.org/officeDocument/2006/relationships/tableStyles" Target="/ppt/tableStyles.xml" Id="R9fd492e895a342cf" /><Relationship Type="http://schemas.openxmlformats.org/officeDocument/2006/relationships/slide" Target="/ppt/slides/slide1.xml" Id="R66ca3fd6b3694372" /><Relationship Type="http://schemas.openxmlformats.org/officeDocument/2006/relationships/slide" Target="/ppt/slides/slide2.xml" Id="R685a1f8522ad4b8a" /><Relationship Type="http://schemas.openxmlformats.org/officeDocument/2006/relationships/slide" Target="/ppt/slides/slide3.xml" Id="Re3a25c3427ab4910" /><Relationship Type="http://schemas.openxmlformats.org/officeDocument/2006/relationships/slide" Target="/ppt/slides/slide4.xml" Id="R0446ce6082324c1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2ffd881273149f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bd9c8de52654d4f" /><Relationship Type="http://schemas.openxmlformats.org/officeDocument/2006/relationships/notesMaster" Target="/ppt/notesMasters/notesMaster1.xml" Id="R77f00be87ccc4c61" /></Relationships>
</file>

<file path=ppt/notesSlides/_rels/notesSlide2.xml.rels>&#65279;<?xml version="1.0" encoding="utf-8"?><Relationships xmlns="http://schemas.openxmlformats.org/package/2006/relationships"><Relationship Type="http://schemas.openxmlformats.org/officeDocument/2006/relationships/slide" Target="/ppt/slides/slide2.xml" Id="Rf6f8832dda494162" /><Relationship Type="http://schemas.openxmlformats.org/officeDocument/2006/relationships/notesMaster" Target="/ppt/notesMasters/notesMaster1.xml" Id="Ra16f5f0a684a4bd7" /></Relationships>
</file>

<file path=ppt/notesSlides/_rels/notesSlide3.xml.rels>&#65279;<?xml version="1.0" encoding="utf-8"?><Relationships xmlns="http://schemas.openxmlformats.org/package/2006/relationships"><Relationship Type="http://schemas.openxmlformats.org/officeDocument/2006/relationships/slide" Target="/ppt/slides/slide3.xml" Id="R307d2dfbeac14536" /><Relationship Type="http://schemas.openxmlformats.org/officeDocument/2006/relationships/notesMaster" Target="/ppt/notesMasters/notesMaster1.xml" Id="R044761c3cad34751" /></Relationships>
</file>

<file path=ppt/notesSlides/_rels/notesSlide4.xml.rels>&#65279;<?xml version="1.0" encoding="utf-8"?><Relationships xmlns="http://schemas.openxmlformats.org/package/2006/relationships"><Relationship Type="http://schemas.openxmlformats.org/officeDocument/2006/relationships/slide" Target="/ppt/slides/slide4.xml" Id="Re9d250c149ef418b" /><Relationship Type="http://schemas.openxmlformats.org/officeDocument/2006/relationships/notesMaster" Target="/ppt/notesMasters/notesMaster1.xml" Id="Rcf833b6a33e54e6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narration: We use official connectors, with explicit employee permission and the organization's access rules. We process the selected work sources, rather than promising access to every conversation on a device. Gmail and Teams send change notifications. Our backend retrieves the relevant changes and thread context. Zalo is a different integration: the supported product route is a connected Official Account. For ordinary personal chats, the employee can copy or forward selected content into Headroom's intake. We do not promise background access to all personal Zalo chats.</a:t>
            </a:r>
          </a:p>
          <a:p xmlns:a="http://schemas.openxmlformats.org/drawingml/2006/main">
            <a:r>
              <a:t/>
            </a:r>
          </a:p>
          <a:p xmlns:a="http://schemas.openxmlformats.org/drawingml/2006/main">
            <a:r>
              <a:t>Implementation proposal: OAuth tokens remain encrypted on the server. Per-organization connectors normalize sender, recipients, timestamps, thread ID, message ID and source references into a common record. Gmail uses users.watch plus Pub/Sub notifications and history.list, with scheduled watch renewal and catch-up sync. Watch filters and application filters enforce the selected work labels; Gmail API permission itself may be broader than those filters. Microsoft Graph subscriptions target approved chats/channels with the required delegated, application or resource-specific permissions. Organization policy may require administrator consent. Zalo OA OpenAPI/webhooks cover authorized OA interactions; confirm the OA plan and integration approval before rollout. Selected personal-chat intake is our proposed manual fallback, not an assertion of broad Zalo API access.</a:t>
            </a:r>
          </a:p>
          <a:p xmlns:a="http://schemas.openxmlformats.org/drawingml/2006/main">
            <a:r>
              <a:t/>
            </a:r>
          </a:p>
          <a:p xmlns:a="http://schemas.openxmlformats.org/drawingml/2006/main">
            <a:r>
              <a:t>Production readiness: budget for Google OAuth verification and, where applicable, the restricted-scope security assessment. Renew expiring subscriptions, verify incoming notification authenticity, use an idempotent processing queue and reconcile missed changes. Disconnect revokes future processing. Preserve source access controls and retention settings. This is a proposed final-product architecture, not a claim that these connectors are already implemented.</a:t>
            </a:r>
          </a:p>
          <a:p xmlns:a="http://schemas.openxmlformats.org/drawingml/2006/main">
            <a:r>
              <a:t/>
            </a:r>
          </a:p>
          <a:p xmlns:a="http://schemas.openxmlformats.org/drawingml/2006/main">
            <a:r>
              <a:t>Official sources checked September 22, 2026:</a:t>
            </a:r>
          </a:p>
          <a:p xmlns:a="http://schemas.openxmlformats.org/drawingml/2006/main">
            <a:r>
              <a:t>https://developers.google.com/workspace/gmail/api/guides/push</a:t>
            </a:r>
          </a:p>
          <a:p xmlns:a="http://schemas.openxmlformats.org/drawingml/2006/main">
            <a:r>
              <a:t>https://developers.google.com/workspace/gmail/api/auth/scopes</a:t>
            </a:r>
          </a:p>
          <a:p xmlns:a="http://schemas.openxmlformats.org/drawingml/2006/main">
            <a:r>
              <a:t>https://learn.microsoft.com/en-us/graph/teams-changenotifications-chatmessage</a:t>
            </a:r>
          </a:p>
          <a:p xmlns:a="http://schemas.openxmlformats.org/drawingml/2006/main">
            <a:r>
              <a:t>https://oa.zalo.me/home/function/extension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narration: The AI interprets a message in its conversation, so a reply like 'make it Monday instead' can revise an existing request. It proposes a task with an owner, due date and source evidence. If information is missing, the employee fills it in. Once confirmed, the AI proposes a checklist and the employee can edit it before saving. Duplicate requests across platforms should become one task, not extra workload.</a:t>
            </a:r>
          </a:p>
          <a:p xmlns:a="http://schemas.openxmlformats.org/drawingml/2006/main">
            <a:r>
              <a:t/>
            </a:r>
          </a:p>
          <a:p xmlns:a="http://schemas.openxmlformats.org/drawingml/2006/main">
            <a:r>
              <a:t>Proposed pipeline: First filter non-actionable updates, then send only relevant conversation context to a contracted LLM endpoint. Request schema-constrained output: candidate task, deliverable, assignee identity or unknown, due date/time zone or unknown, category, scope, dependencies, evidence spans and source references. Resolve identities using the organization directory. Normalize dates using the message timestamp and local time zone. Treat message content as data, not executable instructions. Do not execute links or embedded instructions. Use deterministic validation and source evidence, not just a model's self-reported confidence. Ambiguous ownership, missing due dates, changes of scope and conflicting deadlines require review.</a:t>
            </a:r>
          </a:p>
          <a:p xmlns:a="http://schemas.openxmlformats.org/drawingml/2006/main">
            <a:r>
              <a:t/>
            </a:r>
          </a:p>
          <a:p xmlns:a="http://schemas.openxmlformats.org/drawingml/2006/main">
            <a:r>
              <a:t>Deduplication: First use source message/thread IDs for retry safety, then compare deliverable, owner, project and deadline across sources. Offer uncertain matches for confirmation. Preserve all supporting source references on the accepted task. A manually shared Zalo message can retain a user-supplied source label/excerpt when a reliable deep link is unavailable.</a:t>
            </a:r>
          </a:p>
          <a:p xmlns:a="http://schemas.openxmlformats.org/drawingml/2006/main">
            <a:r>
              <a:t/>
            </a:r>
          </a:p>
          <a:p xmlns:a="http://schemas.openxmlformats.org/drawingml/2006/main">
            <a:r>
              <a:t>Breakdown: Supply the confirmed task and the effort budget produced by the capacity model. Request a short ordered checklist with concrete outputs, dependencies and suggested effort shares. Validate allowed fields, reasonable durations and total effort. Allocate the effort budget across steps without silently inflating task scope. The example is illustrative: a separately estimated four-hour task allocates 30+90+90+30=240 minutes. This is planned effort, not a measured performance claim.</a:t>
            </a:r>
          </a:p>
          <a:p xmlns:a="http://schemas.openxmlformats.org/drawingml/2006/main">
            <a:r>
              <a:t/>
            </a:r>
          </a:p>
          <a:p xmlns:a="http://schemas.openxmlformats.org/drawingml/2006/main">
            <a:r>
              <a:t>The employee reviews suggested steps before committing them. Source edits propose task updates rather than silently changing accepted commitments. API failures leave the item pending for retry. Use organization-specific access checks, minimal retained excerpts, configurable deletion and an enterprise model agreement suitable for workplace data. Managers see confirmed workload and accepted tasks, with source access separately controlled.</a:t>
            </a:r>
          </a:p>
          <a:p xmlns:a="http://schemas.openxmlformats.org/drawingml/2006/main">
            <a:r>
              <a:t/>
            </a:r>
          </a:p>
          <a:p xmlns:a="http://schemas.openxmlformats.org/drawingml/2006/main">
            <a:r>
              <a:t>This slide describes a proposed architecture. API feasibility sources are in slide 1. Extraction quality and duplicate detection must be evaluated on consented, labeled examples before rollout.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narration: A six-hour task is not automatically six hours for everyone. Headroom starts from comparable work, then learns from effort that the employee confirms after completion. It estimates effort separately for different types and scopes of work. With little history it stays close to a common baseline. As evidence grows, the individual's pattern carries more weight. It updates future planning, while accepted commitments require an explicit review to change.</a:t>
            </a:r>
          </a:p>
          <a:p xmlns:a="http://schemas.openxmlformats.org/drawingml/2006/main">
            <a:r>
              <a:t/>
            </a:r>
          </a:p>
          <a:p xmlns:a="http://schemas.openxmlformats.org/drawingml/2006/main">
            <a:r>
              <a:t>Proposed feasible algorithm, not a description of the prototype:</a:t>
            </a:r>
          </a:p>
          <a:p xmlns:a="http://schemas.openxmlformats.org/drawingml/2006/main">
            <a:r>
              <a:t>1. Define a task category and scope using a small structured feature set, for example number of competitors, pages, data sources or deliverables. Maintain a baseline B from robust team medians for that category/scope or a human-entered estimate when data are sparse. Save the baseline version when the task is accepted.</a:t>
            </a:r>
          </a:p>
          <a:p xmlns:a="http://schemas.openxmlformats.org/drawingml/2006/main">
            <a:r>
              <a:t>2. Collect employee-confirmed active effort A at completion, optionally from an opt-in timer or a short completion prompt. Do not treat time from assignment to deadline, idle time, after-hours messages or keystrokes as productive effort. Separate blocked/waiting time, leave and material scope changes. Exclude incomparable or unconfirmed records from the speed adjustment, and review anomalies with the employee.</a:t>
            </a:r>
          </a:p>
          <a:p xmlns:a="http://schemas.openxmlformats.org/drawingml/2006/main">
            <a:r>
              <a:t>3. For up to the last 20 comparable tasks, calculate r=A/B using the original saved baseline rather than a previously personalized estimate. Use a recency-weighted median ratio M to resist outliers. An initial recency weighting can use a half-life of eight comparable completions. These are starting design parameters, to be tuned from pilot error measurements.</a:t>
            </a:r>
          </a:p>
          <a:p xmlns:a="http://schemas.openxmlformats.org/drawingml/2006/main">
            <a:r>
              <a:t>4. Blend the pattern with the baseline: adjustment F = (1-w)*1 + w*M, with w=n/(n+5), where n is the number of valid comparable personal completions, capped at 20 for this initial design. With no personal evidence F=1. This shrinkage prevents one task from determining the person's estimate. Different categories keep separate histories; fall back to the broader category or baseline when examples are sparse.</a:t>
            </a:r>
          </a:p>
          <a:p xmlns:a="http://schemas.openxmlformats.org/drawingml/2006/main">
            <a:r>
              <a:t>5. Predict effort E=B_new*F. After sufficient observations, derive an uncertainty interval from held-out prediction residuals and check its calibration. With little evidence label confidence as low rather than presenting a precise range. Recalibrate after task-scope changes or sustained shifts in work patterns.</a:t>
            </a:r>
          </a:p>
          <a:p xmlns:a="http://schemas.openxmlformats.org/drawingml/2006/main">
            <a:r>
              <a:t/>
            </a:r>
          </a:p>
          <a:p xmlns:a="http://schemas.openxmlformats.org/drawingml/2006/main">
            <a:r>
              <a:t>Use chronological validation on pilot tasks, track absolute hour error and interval coverage, and let employees inspect and correct the records behind an estimate. This is a planning aid, not a medical inference or an employee ranking system. No claim of a measured accuracy improvement is made. All algorithm choices are proposed product design.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narration: Learning changes the estimate for the work. The calendar tells us how much time is available. In this example, Alex's new task has a four-hour baseline, and a cautiously blended personal adjustment makes it five hours. There are 27 usable hours this week after meetings, leave and buffer. Existing work needs 24 hours, so adding the new task creates a two-hour gap. Headroom can explain the gap and suggest options. The employee and manager agree on a change before the plan updates.</a:t>
            </a:r>
          </a:p>
          <a:p xmlns:a="http://schemas.openxmlformats.org/drawingml/2006/main">
            <a:r>
              <a:t/>
            </a:r>
          </a:p>
          <a:p xmlns:a="http://schemas.openxmlformats.org/drawingml/2006/main">
            <a:r>
              <a:t>Illustrative arithmetic: For five valid comparable completed tasks, suppose the recency-weighted median actual-to-baseline ratio M=1.5. The proposed slide-3 shrinkage weight w=5/(5+5)=0.5. Thus F=(1-0.5)*1+0.5*1.5=1.25. A new comparable task with B=4h has E=5h. These are invented example inputs, not observed Headroom results.</a:t>
            </a:r>
          </a:p>
          <a:p xmlns:a="http://schemas.openxmlformats.org/drawingml/2006/main">
            <a:r>
              <a:t/>
            </a:r>
          </a:p>
          <a:p xmlns:a="http://schemas.openxmlformats.org/drawingml/2006/main">
            <a:r>
              <a:t>Availability C=contracted/scheduled working hours minus the union of approved unavailable time and an agreed interruption buffer. Example: 40-6-4-3=27 hours. Deduplicate overlapping meetings and leave so time is subtracted once. Use calendar busy intervals and approved leave, with explicit employee permission. Do not infer the employee's psychological or medical capacity. Let the employee adjust the buffer and flag constraints without requiring a diagnosis.</a:t>
            </a:r>
          </a:p>
          <a:p xmlns:a="http://schemas.openxmlformats.org/drawingml/2006/main">
            <a:r>
              <a:t/>
            </a:r>
          </a:p>
          <a:p xmlns:a="http://schemas.openxmlformats.org/drawingml/2006/main">
            <a:r>
              <a:t>Demand D is the sum of the estimated remaining effort scheduled into this week, including overdue work. Split multiweek tasks across realistic work blocks before their deadlines, account for dependencies, and use a weekly review or task-progress confirmation to update remaining effort. Avoid subtracting a meeting both as calendar unavailability and as a task commitment. The 24 hours in this example is remaining effort already allocated to this week. Adding the 5-hour task gives 29 hours and D-C=2 hours over capacity.</a:t>
            </a:r>
          </a:p>
          <a:p xmlns:a="http://schemas.openxmlformats.org/drawingml/2006/main">
            <a:r>
              <a:t/>
            </a:r>
          </a:p>
          <a:p xmlns:a="http://schemas.openxmlformats.org/drawingml/2006/main">
            <a:r>
              <a:t>Recommendations are proposals. Moving work must check the destination week's space and the due date. Scope reduction requires an agreed change to the deliverable. Reassignment must use the recipient's own estimate and availability. Recompute the schedule after employee/manager approval. Show uncertainty so a narrow or uncertain margin does not masquerade as a guarantee. No automatic assignment or employee ranking is part of this proposed design.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d08deb612c54258"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2781315604547e5" /><Relationship Type="http://schemas.openxmlformats.org/officeDocument/2006/relationships/slideLayout" Target="/ppt/slideLayouts/slideLayout1.xml" Id="Rbcf3455ea6b34755"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cf3455ea6b3475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72bdf3eb67314110" /><Relationship Type="http://schemas.openxmlformats.org/officeDocument/2006/relationships/notesSlide" Target="/ppt/notesSlides/notesSlide1.xml" Id="Rfc398d09a2e94f0f"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6072bbe2b8f24d80" /><Relationship Type="http://schemas.openxmlformats.org/officeDocument/2006/relationships/notesSlide" Target="/ppt/notesSlides/notesSlide2.xml" Id="R92f3186c61ba44fa"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4e16f009ad5945b0" /><Relationship Type="http://schemas.openxmlformats.org/officeDocument/2006/relationships/notesSlide" Target="/ppt/notesSlides/notesSlide3.xml" Id="Rb14dd4d22d31406f"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ed8626c019584470" /><Relationship Type="http://schemas.openxmlformats.org/officeDocument/2006/relationships/notesSlide" Target="/ppt/notesSlides/notesSlide4.xml" Id="R4de278a5efc0468c" /></Relationships>
</file>

<file path=ppt/slides/slide1.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8" name="headroom.">
            <a:extLst xmlns:a="http://schemas.openxmlformats.org/drawingml/2006/main">
              <a:ext uri="{FF2B5EF4-FFF2-40B4-BE49-F238E27FC236}">
                <a16:creationId xmlns:a16="http://schemas.microsoft.com/office/drawing/2014/main" id="{EFD68BB5-DB9C-4F1E-A1C4-D370313CA9EF}"/>
              </a:ext>
            </a:extLst>
          </p:cNvPr>
          <p:cNvSpPr>
            <a:spLocks xmlns:a="http://schemas.openxmlformats.org/drawingml/2006/main" noGrp="1"/>
          </p:cNvSpPr>
          <p:nvPr/>
        </p:nvSpPr>
        <p:spPr>
          <a:xfrm xmlns:a="http://schemas.openxmlformats.org/drawingml/2006/main">
            <a:off x="609600" y="304800"/>
            <a:ext cx="2476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1">
                <a:solidFill>
                  <a:srgbClr val="173B40"/>
                </a:solidFill>
                <a:latin typeface="Arial"/>
                <a:ea typeface="Arial"/>
                <a:cs typeface="Arial"/>
              </a:defRPr>
            </a:pPr>
            <a:r>
              <a:rPr sz="1800" b="1">
                <a:solidFill>
                  <a:srgbClr val="173B40"/>
                </a:solidFill>
                <a:latin typeface="Arial"/>
                <a:ea typeface="Arial"/>
                <a:cs typeface="Arial"/>
              </a:rPr>
              <a:t>headroom.</a:t>
            </a:r>
          </a:p>
        </p:txBody>
      </p:sp>
      <p:sp>
        <p:nvSpPr>
          <p:cNvPr id="2" name="Task capture across work platforms">
            <a:extLst xmlns:a="http://schemas.openxmlformats.org/drawingml/2006/main">
              <a:ext uri="{FF2B5EF4-FFF2-40B4-BE49-F238E27FC236}">
                <a16:creationId xmlns:a16="http://schemas.microsoft.com/office/drawing/2014/main" id="{B955B179-D787-473B-A317-BD6D052B1B48}"/>
              </a:ext>
            </a:extLst>
          </p:cNvPr>
          <p:cNvSpPr>
            <a:spLocks xmlns:a="http://schemas.openxmlformats.org/drawingml/2006/main" noGrp="1"/>
          </p:cNvSpPr>
          <p:nvPr/>
        </p:nvSpPr>
        <p:spPr>
          <a:xfrm xmlns:a="http://schemas.openxmlformats.org/drawingml/2006/main">
            <a:off x="609600" y="923925"/>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300" b="1">
                <a:solidFill>
                  <a:srgbClr val="173B40"/>
                </a:solidFill>
                <a:latin typeface="Arial"/>
                <a:ea typeface="Arial"/>
                <a:cs typeface="Arial"/>
              </a:defRPr>
            </a:pPr>
            <a:r>
              <a:rPr sz="3300" b="1">
                <a:solidFill>
                  <a:srgbClr val="173B40"/>
                </a:solidFill>
                <a:latin typeface="Arial"/>
                <a:ea typeface="Arial"/>
                <a:cs typeface="Arial"/>
              </a:rPr>
              <a:t>Task capture across work platforms</a:t>
            </a:r>
          </a:p>
        </p:txBody>
      </p:sp>
      <p:sp>
        <p:nvSpPr>
          <p:cNvPr id="3" name="Proposed product design   /   1 of 4">
            <a:extLst xmlns:a="http://schemas.openxmlformats.org/drawingml/2006/main">
              <a:ext uri="{FF2B5EF4-FFF2-40B4-BE49-F238E27FC236}">
                <a16:creationId xmlns:a16="http://schemas.microsoft.com/office/drawing/2014/main" id="{6CB2582D-FFFA-4AC8-8850-8401B70E3BE6}"/>
              </a:ext>
            </a:extLst>
          </p:cNvPr>
          <p:cNvSpPr>
            <a:spLocks xmlns:a="http://schemas.openxmlformats.org/drawingml/2006/main" noGrp="1"/>
          </p:cNvSpPr>
          <p:nvPr/>
        </p:nvSpPr>
        <p:spPr>
          <a:xfrm xmlns:a="http://schemas.openxmlformats.org/drawingml/2006/main">
            <a:off x="609600" y="6419850"/>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00" b="0">
                <a:solidFill>
                  <a:srgbClr val="596764"/>
                </a:solidFill>
                <a:latin typeface="Arial"/>
                <a:ea typeface="Arial"/>
                <a:cs typeface="Arial"/>
              </a:defRPr>
            </a:pPr>
            <a:r>
              <a:rPr sz="1200" b="0">
                <a:solidFill>
                  <a:srgbClr val="596764"/>
                </a:solidFill>
                <a:latin typeface="Arial"/>
                <a:ea typeface="Arial"/>
                <a:cs typeface="Arial"/>
              </a:rPr>
              <a:t>Proposed product design   /   1 of 4</a:t>
            </a:r>
          </a:p>
        </p:txBody>
      </p:sp>
      <p:sp>
        <p:nvSpPr>
          <p:cNvPr id="4" name="Employees choose the work sources. Their organizat">
            <a:extLst xmlns:a="http://schemas.openxmlformats.org/drawingml/2006/main">
              <a:ext uri="{FF2B5EF4-FFF2-40B4-BE49-F238E27FC236}">
                <a16:creationId xmlns:a16="http://schemas.microsoft.com/office/drawing/2014/main" id="{E73BAFEA-9363-484E-9EDE-E37593A80DBD}"/>
              </a:ext>
            </a:extLst>
          </p:cNvPr>
          <p:cNvSpPr>
            <a:spLocks xmlns:a="http://schemas.openxmlformats.org/drawingml/2006/main" noGrp="1"/>
          </p:cNvSpPr>
          <p:nvPr/>
        </p:nvSpPr>
        <p:spPr>
          <a:xfrm xmlns:a="http://schemas.openxmlformats.org/drawingml/2006/main">
            <a:off x="609600" y="1657350"/>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025" b="0">
                <a:solidFill>
                  <a:srgbClr val="596764"/>
                </a:solidFill>
                <a:latin typeface="Arial"/>
                <a:ea typeface="Arial"/>
                <a:cs typeface="Arial"/>
              </a:defRPr>
            </a:pPr>
            <a:r>
              <a:rPr sz="2025" b="0">
                <a:solidFill>
                  <a:srgbClr val="596764"/>
                </a:solidFill>
                <a:latin typeface="Arial"/>
                <a:ea typeface="Arial"/>
                <a:cs typeface="Arial"/>
              </a:rPr>
              <a:t>Employees choose the work sources. Their organization approves access.</a:t>
            </a:r>
          </a:p>
        </p:txBody>
      </p:sp>
      <p:graphicFrame>
        <p:nvGraphicFramePr>
          <p:cNvPr id="12" name=""/>
          <p:cNvGraphicFramePr/>
          <p:nvPr/>
        </p:nvGraphicFramePr>
        <p:xfrm>
          <a:off xmlns:a="http://schemas.openxmlformats.org/drawingml/2006/main" x="609600" y="2381250"/>
          <a:ext xmlns:a="http://schemas.openxmlformats.org/drawingml/2006/main" cx="10972800" cy="2714625"/>
        </p:xfrm>
        <a:graphic xmlns:a="http://schemas.openxmlformats.org/drawingml/2006/main">
          <a:graphicData uri="http://schemas.openxmlformats.org/drawingml/2006/table">
            <a:tbl>
              <a:tblPr/>
              <a:tblGrid>
                <a:gridCol w="2619375"/>
                <a:gridCol w="8353425"/>
              </a:tblGrid>
              <a:tr h="904875">
                <a:tc>
                  <a:txBody>
                    <a:bodyPr lIns="152400" tIns="142875" rIns="152400" bIns="142875">
                      <a:noAutofit/>
                    </a:bodyPr>
                    <a:lstStyle/>
                    <a:p>
                      <a:r>
                        <a:rPr sz="2100" b="1">
                          <a:solidFill>
                            <a:srgbClr val="173B40"/>
                          </a:solidFill>
                          <a:latin typeface="Arial"/>
                          <a:ea typeface="Arial"/>
                          <a:cs typeface="Arial"/>
                        </a:rPr>
                        <a:t>Gmail</a:t>
                      </a:r>
                    </a:p>
                  </a:txBody>
                  <a:tcPr marL="91440" marR="91440" marT="45720" marB="45720">
                    <a:solidFill>
                      <a:srgbClr val="F7F6F2"/>
                    </a:solidFill>
                  </a:tcPr>
                </a:tc>
                <a:tc>
                  <a:txBody>
                    <a:bodyPr lIns="152400" tIns="142875" rIns="152400" bIns="142875">
                      <a:noAutofit/>
                    </a:bodyPr>
                    <a:lstStyle/>
                    <a:p>
                      <a:r>
                        <a:rPr sz="1875" b="0">
                          <a:solidFill>
                            <a:srgbClr val="173B40"/>
                          </a:solidFill>
                          <a:latin typeface="Arial"/>
                          <a:ea typeface="Arial"/>
                          <a:cs typeface="Arial"/>
                        </a:rPr>
                        <a:t>Connect with Google permission.</a:t>
                      </a:r>
                    </a:p>
                    <a:p>
                      <a:r>
                        <a:rPr sz="1875" b="0">
                          <a:solidFill>
                            <a:srgbClr val="173B40"/>
                          </a:solidFill>
                          <a:latin typeface="Arial"/>
                          <a:ea typeface="Arial"/>
                          <a:cs typeface="Arial"/>
                        </a:rPr>
                        <a:t>Read selected work email and its thread context.</a:t>
                      </a:r>
                    </a:p>
                  </a:txBody>
                  <a:tcPr marL="91440" marR="91440" marT="45720" marB="45720">
                    <a:solidFill>
                      <a:srgbClr val="F7F6F2"/>
                    </a:solidFill>
                  </a:tcPr>
                </a:tc>
              </a:tr>
              <a:tr h="904875">
                <a:tc>
                  <a:txBody>
                    <a:bodyPr lIns="152400" tIns="142875" rIns="152400" bIns="142875">
                      <a:noAutofit/>
                    </a:bodyPr>
                    <a:lstStyle/>
                    <a:p>
                      <a:r>
                        <a:rPr sz="2100" b="1">
                          <a:solidFill>
                            <a:srgbClr val="173B40"/>
                          </a:solidFill>
                          <a:latin typeface="Arial"/>
                          <a:ea typeface="Arial"/>
                          <a:cs typeface="Arial"/>
                        </a:rPr>
                        <a:t>Microsoft Teams</a:t>
                      </a:r>
                    </a:p>
                  </a:txBody>
                  <a:tcPr marL="91440" marR="91440" marT="45720" marB="45720">
                    <a:solidFill>
                      <a:srgbClr val="F7F6F2"/>
                    </a:solidFill>
                  </a:tcPr>
                </a:tc>
                <a:tc>
                  <a:txBody>
                    <a:bodyPr lIns="152400" tIns="142875" rIns="152400" bIns="142875">
                      <a:noAutofit/>
                    </a:bodyPr>
                    <a:lstStyle/>
                    <a:p>
                      <a:r>
                        <a:rPr sz="1875" b="0">
                          <a:solidFill>
                            <a:srgbClr val="173B40"/>
                          </a:solidFill>
                          <a:latin typeface="Arial"/>
                          <a:ea typeface="Arial"/>
                          <a:cs typeface="Arial"/>
                        </a:rPr>
                        <a:t>Connect through Microsoft Graph.</a:t>
                      </a:r>
                    </a:p>
                    <a:p>
                      <a:r>
                        <a:rPr sz="1875" b="0">
                          <a:solidFill>
                            <a:srgbClr val="173B40"/>
                          </a:solidFill>
                          <a:latin typeface="Arial"/>
                          <a:ea typeface="Arial"/>
                          <a:cs typeface="Arial"/>
                        </a:rPr>
                        <a:t>Read approved work chats and channels.</a:t>
                      </a:r>
                    </a:p>
                  </a:txBody>
                  <a:tcPr marL="91440" marR="91440" marT="45720" marB="45720">
                    <a:solidFill>
                      <a:srgbClr val="F7F6F2"/>
                    </a:solidFill>
                  </a:tcPr>
                </a:tc>
              </a:tr>
              <a:tr h="904875">
                <a:tc>
                  <a:txBody>
                    <a:bodyPr lIns="152400" tIns="142875" rIns="152400" bIns="142875">
                      <a:noAutofit/>
                    </a:bodyPr>
                    <a:lstStyle/>
                    <a:p>
                      <a:r>
                        <a:rPr sz="2100" b="1">
                          <a:solidFill>
                            <a:srgbClr val="173B40"/>
                          </a:solidFill>
                          <a:latin typeface="Arial"/>
                          <a:ea typeface="Arial"/>
                          <a:cs typeface="Arial"/>
                        </a:rPr>
                        <a:t>Zalo</a:t>
                      </a:r>
                    </a:p>
                  </a:txBody>
                  <a:tcPr marL="91440" marR="91440" marT="45720" marB="45720">
                    <a:solidFill>
                      <a:srgbClr val="F7F6F2"/>
                    </a:solidFill>
                  </a:tcPr>
                </a:tc>
                <a:tc>
                  <a:txBody>
                    <a:bodyPr lIns="152400" tIns="142875" rIns="152400" bIns="142875">
                      <a:noAutofit/>
                    </a:bodyPr>
                    <a:lstStyle/>
                    <a:p>
                      <a:r>
                        <a:rPr sz="1875" b="0">
                          <a:solidFill>
                            <a:srgbClr val="173B40"/>
                          </a:solidFill>
                          <a:latin typeface="Arial"/>
                          <a:ea typeface="Arial"/>
                          <a:cs typeface="Arial"/>
                        </a:rPr>
                        <a:t>Receive messages sent to a connected Official Account.</a:t>
                      </a:r>
                    </a:p>
                    <a:p>
                      <a:r>
                        <a:rPr sz="1875" b="0">
                          <a:solidFill>
                            <a:srgbClr val="173B40"/>
                          </a:solidFill>
                          <a:latin typeface="Arial"/>
                          <a:ea typeface="Arial"/>
                          <a:cs typeface="Arial"/>
                        </a:rPr>
                        <a:t>For personal chats, the employee shares selected messages.</a:t>
                      </a:r>
                    </a:p>
                  </a:txBody>
                  <a:tcPr marL="91440" marR="91440" marT="45720" marB="45720">
                    <a:solidFill>
                      <a:srgbClr val="F7F6F2"/>
                    </a:solidFill>
                  </a:tcPr>
                </a:tc>
              </a:tr>
            </a:tbl>
          </a:graphicData>
        </a:graphic>
      </p:graphicFrame>
      <p:sp>
        <p:nvSpPr>
          <p:cNvPr id="6" name="New-message alerts trigger a sync">
            <a:extLst xmlns:a="http://schemas.openxmlformats.org/drawingml/2006/main">
              <a:ext uri="{FF2B5EF4-FFF2-40B4-BE49-F238E27FC236}">
                <a16:creationId xmlns:a16="http://schemas.microsoft.com/office/drawing/2014/main" id="{0368D940-0CDC-4870-B57F-DC91C14ABF85}"/>
              </a:ext>
            </a:extLst>
          </p:cNvPr>
          <p:cNvSpPr>
            <a:spLocks xmlns:a="http://schemas.openxmlformats.org/drawingml/2006/main" noGrp="1"/>
          </p:cNvSpPr>
          <p:nvPr/>
        </p:nvSpPr>
        <p:spPr>
          <a:xfrm xmlns:a="http://schemas.openxmlformats.org/drawingml/2006/main">
            <a:off x="609600" y="5381625"/>
            <a:ext cx="109728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173B40"/>
                </a:solidFill>
                <a:latin typeface="Arial"/>
                <a:ea typeface="Arial"/>
                <a:cs typeface="Arial"/>
              </a:defRPr>
            </a:pPr>
            <a:r>
              <a:rPr sz="2100" b="1">
                <a:solidFill>
                  <a:srgbClr val="173B40"/>
                </a:solidFill>
                <a:latin typeface="Arial"/>
                <a:ea typeface="Arial"/>
                <a:cs typeface="Arial"/>
              </a:rPr>
              <a:t>New-message alerts trigger a sync</a:t>
            </a:r>
          </a:p>
        </p:txBody>
      </p:sp>
      <p:sp>
        <p:nvSpPr>
          <p:cNvPr id="7" name="Headroom fetches changes, retries missed updates a">
            <a:extLst xmlns:a="http://schemas.openxmlformats.org/drawingml/2006/main">
              <a:ext uri="{FF2B5EF4-FFF2-40B4-BE49-F238E27FC236}">
                <a16:creationId xmlns:a16="http://schemas.microsoft.com/office/drawing/2014/main" id="{32038E8E-50DB-46B4-BB77-6C7410E23CB5}"/>
              </a:ext>
            </a:extLst>
          </p:cNvPr>
          <p:cNvSpPr>
            <a:spLocks xmlns:a="http://schemas.openxmlformats.org/drawingml/2006/main" noGrp="1"/>
          </p:cNvSpPr>
          <p:nvPr/>
        </p:nvSpPr>
        <p:spPr>
          <a:xfrm xmlns:a="http://schemas.openxmlformats.org/drawingml/2006/main">
            <a:off x="609600" y="5800725"/>
            <a:ext cx="109728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0">
                <a:solidFill>
                  <a:srgbClr val="596764"/>
                </a:solidFill>
                <a:latin typeface="Arial"/>
                <a:ea typeface="Arial"/>
                <a:cs typeface="Arial"/>
              </a:defRPr>
            </a:pPr>
            <a:r>
              <a:rPr sz="1800" b="0">
                <a:solidFill>
                  <a:srgbClr val="596764"/>
                </a:solidFill>
                <a:latin typeface="Arial"/>
                <a:ea typeface="Arial"/>
                <a:cs typeface="Arial"/>
              </a:rPr>
              <a:t>Headroom fetches changes, retries missed updates and queues messages for task detection.</a:t>
            </a:r>
          </a:p>
        </p:txBody>
      </p:sp>
    </p:spTree>
    <p:extLst>
      <p:ext uri="{BB962C8B-B14F-4D97-AF65-F5344CB8AC3E}">
        <p14:creationId xmlns:p14="http://schemas.microsoft.com/office/powerpoint/2010/main" val="500362492"/>
      </p:ext>
    </p:extLst>
  </p:cSld>
</p:sld>
</file>

<file path=ppt/slides/slide2.xml><?xml version="1.0" encoding="utf-8"?>
<p:sld xmlns:p="http://schemas.openxmlformats.org/presentationml/2006/main">
  <p:cSld>
    <p:bg>
      <p:bgPr>
        <a:solidFill xmlns:a="http://schemas.openxmlformats.org/drawingml/2006/main">
          <a:srgbClr val="173B40"/>
        </a:solidFill>
      </p:bgPr>
    </p:bg>
    <p:spTree>
      <p:nvGrpSpPr>
        <p:cNvPr id="1" name=""/>
        <p:cNvGrpSpPr/>
        <p:nvPr/>
      </p:nvGrpSpPr>
      <p:grpSpPr>
        <a:xfrm xmlns:a="http://schemas.openxmlformats.org/drawingml/2006/main"/>
      </p:grpSpPr>
      <p:sp>
        <p:nvSpPr>
          <p:cNvPr id="19" name="headroom.">
            <a:extLst xmlns:a="http://schemas.openxmlformats.org/drawingml/2006/main">
              <a:ext uri="{FF2B5EF4-FFF2-40B4-BE49-F238E27FC236}">
                <a16:creationId xmlns:a16="http://schemas.microsoft.com/office/drawing/2014/main" id="{28AB1DEE-ADCA-4BBF-BC75-E91E07AA6BA6}"/>
              </a:ext>
            </a:extLst>
          </p:cNvPr>
          <p:cNvSpPr>
            <a:spLocks xmlns:a="http://schemas.openxmlformats.org/drawingml/2006/main" noGrp="1"/>
          </p:cNvSpPr>
          <p:nvPr/>
        </p:nvSpPr>
        <p:spPr>
          <a:xfrm xmlns:a="http://schemas.openxmlformats.org/drawingml/2006/main">
            <a:off x="609600" y="304800"/>
            <a:ext cx="2476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1">
                <a:solidFill>
                  <a:srgbClr val="D9F589"/>
                </a:solidFill>
                <a:latin typeface="Arial"/>
                <a:ea typeface="Arial"/>
                <a:cs typeface="Arial"/>
              </a:defRPr>
            </a:pPr>
            <a:r>
              <a:rPr sz="1800" b="1">
                <a:solidFill>
                  <a:srgbClr val="D9F589"/>
                </a:solidFill>
                <a:latin typeface="Arial"/>
                <a:ea typeface="Arial"/>
                <a:cs typeface="Arial"/>
              </a:rPr>
              <a:t>headroom.</a:t>
            </a:r>
          </a:p>
        </p:txBody>
      </p:sp>
      <p:sp>
        <p:nvSpPr>
          <p:cNvPr id="2" name="How messages become task steps">
            <a:extLst xmlns:a="http://schemas.openxmlformats.org/drawingml/2006/main">
              <a:ext uri="{FF2B5EF4-FFF2-40B4-BE49-F238E27FC236}">
                <a16:creationId xmlns:a16="http://schemas.microsoft.com/office/drawing/2014/main" id="{DC6C622F-9FFB-4900-B44F-D67911E41989}"/>
              </a:ext>
            </a:extLst>
          </p:cNvPr>
          <p:cNvSpPr>
            <a:spLocks xmlns:a="http://schemas.openxmlformats.org/drawingml/2006/main" noGrp="1"/>
          </p:cNvSpPr>
          <p:nvPr/>
        </p:nvSpPr>
        <p:spPr>
          <a:xfrm xmlns:a="http://schemas.openxmlformats.org/drawingml/2006/main">
            <a:off x="609600" y="923925"/>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300" b="1">
                <a:solidFill>
                  <a:srgbClr val="FFFFFF"/>
                </a:solidFill>
                <a:latin typeface="Arial"/>
                <a:ea typeface="Arial"/>
                <a:cs typeface="Arial"/>
              </a:defRPr>
            </a:pPr>
            <a:r>
              <a:rPr sz="3300" b="1">
                <a:solidFill>
                  <a:srgbClr val="FFFFFF"/>
                </a:solidFill>
                <a:latin typeface="Arial"/>
                <a:ea typeface="Arial"/>
                <a:cs typeface="Arial"/>
              </a:rPr>
              <a:t>How messages become task steps</a:t>
            </a:r>
          </a:p>
        </p:txBody>
      </p:sp>
      <p:sp>
        <p:nvSpPr>
          <p:cNvPr id="3" name="Proposed product design   /   2 of 4">
            <a:extLst xmlns:a="http://schemas.openxmlformats.org/drawingml/2006/main">
              <a:ext uri="{FF2B5EF4-FFF2-40B4-BE49-F238E27FC236}">
                <a16:creationId xmlns:a16="http://schemas.microsoft.com/office/drawing/2014/main" id="{758794CC-39F0-46F3-8D43-7D2F9CE42818}"/>
              </a:ext>
            </a:extLst>
          </p:cNvPr>
          <p:cNvSpPr>
            <a:spLocks xmlns:a="http://schemas.openxmlformats.org/drawingml/2006/main" noGrp="1"/>
          </p:cNvSpPr>
          <p:nvPr/>
        </p:nvSpPr>
        <p:spPr>
          <a:xfrm xmlns:a="http://schemas.openxmlformats.org/drawingml/2006/main">
            <a:off x="609600" y="6419850"/>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00" b="0">
                <a:solidFill>
                  <a:srgbClr val="D5E3E0"/>
                </a:solidFill>
                <a:latin typeface="Arial"/>
                <a:ea typeface="Arial"/>
                <a:cs typeface="Arial"/>
              </a:defRPr>
            </a:pPr>
            <a:r>
              <a:rPr sz="1200" b="0">
                <a:solidFill>
                  <a:srgbClr val="D5E3E0"/>
                </a:solidFill>
                <a:latin typeface="Arial"/>
                <a:ea typeface="Arial"/>
                <a:cs typeface="Arial"/>
              </a:rPr>
              <a:t>Proposed product design   /   2 of 4</a:t>
            </a:r>
          </a:p>
        </p:txBody>
      </p:sp>
      <p:sp>
        <p:nvSpPr>
          <p:cNvPr id="4" name="01">
            <a:extLst xmlns:a="http://schemas.openxmlformats.org/drawingml/2006/main">
              <a:ext uri="{FF2B5EF4-FFF2-40B4-BE49-F238E27FC236}">
                <a16:creationId xmlns:a16="http://schemas.microsoft.com/office/drawing/2014/main" id="{3CBFF4D5-4C68-4CAF-98FD-813A92A0D7CB}"/>
              </a:ext>
            </a:extLst>
          </p:cNvPr>
          <p:cNvSpPr>
            <a:spLocks xmlns:a="http://schemas.openxmlformats.org/drawingml/2006/main" noGrp="1"/>
          </p:cNvSpPr>
          <p:nvPr/>
        </p:nvSpPr>
        <p:spPr>
          <a:xfrm xmlns:a="http://schemas.openxmlformats.org/drawingml/2006/main">
            <a:off x="609600" y="1885950"/>
            <a:ext cx="24288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225" b="1">
                <a:solidFill>
                  <a:srgbClr val="D9F589"/>
                </a:solidFill>
                <a:latin typeface="Arial"/>
                <a:ea typeface="Arial"/>
                <a:cs typeface="Arial"/>
              </a:defRPr>
            </a:pPr>
            <a:r>
              <a:rPr sz="3225" b="1">
                <a:solidFill>
                  <a:srgbClr val="D9F589"/>
                </a:solidFill>
                <a:latin typeface="Arial"/>
                <a:ea typeface="Arial"/>
                <a:cs typeface="Arial"/>
              </a:rPr>
              <a:t>01</a:t>
            </a:r>
          </a:p>
        </p:txBody>
      </p:sp>
      <p:sp>
        <p:nvSpPr>
          <p:cNvPr id="5" name="Read the context">
            <a:extLst xmlns:a="http://schemas.openxmlformats.org/drawingml/2006/main">
              <a:ext uri="{FF2B5EF4-FFF2-40B4-BE49-F238E27FC236}">
                <a16:creationId xmlns:a16="http://schemas.microsoft.com/office/drawing/2014/main" id="{4CDA6387-EE4C-4E8D-B669-339D1FECF0B9}"/>
              </a:ext>
            </a:extLst>
          </p:cNvPr>
          <p:cNvSpPr>
            <a:spLocks xmlns:a="http://schemas.openxmlformats.org/drawingml/2006/main" noGrp="1"/>
          </p:cNvSpPr>
          <p:nvPr/>
        </p:nvSpPr>
        <p:spPr>
          <a:xfrm xmlns:a="http://schemas.openxmlformats.org/drawingml/2006/main">
            <a:off x="609600" y="2505075"/>
            <a:ext cx="2571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025" b="1">
                <a:solidFill>
                  <a:srgbClr val="FFFFFF"/>
                </a:solidFill>
                <a:latin typeface="Arial"/>
                <a:ea typeface="Arial"/>
                <a:cs typeface="Arial"/>
              </a:defRPr>
            </a:pPr>
            <a:r>
              <a:rPr sz="2025" b="1">
                <a:solidFill>
                  <a:srgbClr val="FFFFFF"/>
                </a:solidFill>
                <a:latin typeface="Arial"/>
                <a:ea typeface="Arial"/>
                <a:cs typeface="Arial"/>
              </a:rPr>
              <a:t>Read the context</a:t>
            </a:r>
          </a:p>
        </p:txBody>
      </p:sp>
      <p:sp>
        <p:nvSpPr>
          <p:cNvPr id="6" name="AI reads the request&#10;and relevant replies.">
            <a:extLst xmlns:a="http://schemas.openxmlformats.org/drawingml/2006/main">
              <a:ext uri="{FF2B5EF4-FFF2-40B4-BE49-F238E27FC236}">
                <a16:creationId xmlns:a16="http://schemas.microsoft.com/office/drawing/2014/main" id="{75246AB3-6775-4D0F-B9FE-0FA9A392C372}"/>
              </a:ext>
            </a:extLst>
          </p:cNvPr>
          <p:cNvSpPr>
            <a:spLocks xmlns:a="http://schemas.openxmlformats.org/drawingml/2006/main" noGrp="1"/>
          </p:cNvSpPr>
          <p:nvPr/>
        </p:nvSpPr>
        <p:spPr>
          <a:xfrm xmlns:a="http://schemas.openxmlformats.org/drawingml/2006/main">
            <a:off x="609600" y="3009900"/>
            <a:ext cx="2524125"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0">
                <a:solidFill>
                  <a:srgbClr val="D5E3E0"/>
                </a:solidFill>
                <a:latin typeface="Arial"/>
                <a:ea typeface="Arial"/>
                <a:cs typeface="Arial"/>
              </a:defRPr>
            </a:pPr>
            <a:r>
              <a:rPr sz="1800" b="0">
                <a:solidFill>
                  <a:srgbClr val="D5E3E0"/>
                </a:solidFill>
                <a:latin typeface="Arial"/>
                <a:ea typeface="Arial"/>
                <a:cs typeface="Arial"/>
              </a:rPr>
              <a:t>AI reads the request</a:t>
            </a:r>
          </a:p>
          <a:p xmlns:a="http://schemas.openxmlformats.org/drawingml/2006/main">
            <a:pPr>
              <a:defRPr sz="1800" b="0">
                <a:solidFill>
                  <a:srgbClr val="D5E3E0"/>
                </a:solidFill>
                <a:latin typeface="Arial"/>
                <a:ea typeface="Arial"/>
                <a:cs typeface="Arial"/>
              </a:defRPr>
            </a:pPr>
            <a:r>
              <a:rPr sz="1800" b="0">
                <a:solidFill>
                  <a:srgbClr val="D5E3E0"/>
                </a:solidFill>
                <a:latin typeface="Arial"/>
                <a:ea typeface="Arial"/>
                <a:cs typeface="Arial"/>
              </a:rPr>
              <a:t>and relevant replies.</a:t>
            </a:r>
          </a:p>
        </p:txBody>
      </p:sp>
      <p:sp>
        <p:nvSpPr>
          <p:cNvPr id="7" name="02">
            <a:extLst xmlns:a="http://schemas.openxmlformats.org/drawingml/2006/main">
              <a:ext uri="{FF2B5EF4-FFF2-40B4-BE49-F238E27FC236}">
                <a16:creationId xmlns:a16="http://schemas.microsoft.com/office/drawing/2014/main" id="{3C6C84C4-6781-4B17-9433-2E065B8BEFB0}"/>
              </a:ext>
            </a:extLst>
          </p:cNvPr>
          <p:cNvSpPr>
            <a:spLocks xmlns:a="http://schemas.openxmlformats.org/drawingml/2006/main" noGrp="1"/>
          </p:cNvSpPr>
          <p:nvPr/>
        </p:nvSpPr>
        <p:spPr>
          <a:xfrm xmlns:a="http://schemas.openxmlformats.org/drawingml/2006/main">
            <a:off x="3409950" y="1885950"/>
            <a:ext cx="24288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225" b="1">
                <a:solidFill>
                  <a:srgbClr val="D9F589"/>
                </a:solidFill>
                <a:latin typeface="Arial"/>
                <a:ea typeface="Arial"/>
                <a:cs typeface="Arial"/>
              </a:defRPr>
            </a:pPr>
            <a:r>
              <a:rPr sz="3225" b="1">
                <a:solidFill>
                  <a:srgbClr val="D9F589"/>
                </a:solidFill>
                <a:latin typeface="Arial"/>
                <a:ea typeface="Arial"/>
                <a:cs typeface="Arial"/>
              </a:rPr>
              <a:t>02</a:t>
            </a:r>
          </a:p>
        </p:txBody>
      </p:sp>
      <p:sp>
        <p:nvSpPr>
          <p:cNvPr id="8" name="Identify the task">
            <a:extLst xmlns:a="http://schemas.openxmlformats.org/drawingml/2006/main">
              <a:ext uri="{FF2B5EF4-FFF2-40B4-BE49-F238E27FC236}">
                <a16:creationId xmlns:a16="http://schemas.microsoft.com/office/drawing/2014/main" id="{B2728418-ED6E-4FDB-858B-0078939097AF}"/>
              </a:ext>
            </a:extLst>
          </p:cNvPr>
          <p:cNvSpPr>
            <a:spLocks xmlns:a="http://schemas.openxmlformats.org/drawingml/2006/main" noGrp="1"/>
          </p:cNvSpPr>
          <p:nvPr/>
        </p:nvSpPr>
        <p:spPr>
          <a:xfrm xmlns:a="http://schemas.openxmlformats.org/drawingml/2006/main">
            <a:off x="3409950" y="2505075"/>
            <a:ext cx="2571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025" b="1">
                <a:solidFill>
                  <a:srgbClr val="FFFFFF"/>
                </a:solidFill>
                <a:latin typeface="Arial"/>
                <a:ea typeface="Arial"/>
                <a:cs typeface="Arial"/>
              </a:defRPr>
            </a:pPr>
            <a:r>
              <a:rPr sz="2025" b="1">
                <a:solidFill>
                  <a:srgbClr val="FFFFFF"/>
                </a:solidFill>
                <a:latin typeface="Arial"/>
                <a:ea typeface="Arial"/>
                <a:cs typeface="Arial"/>
              </a:rPr>
              <a:t>Identify the task</a:t>
            </a:r>
          </a:p>
        </p:txBody>
      </p:sp>
      <p:sp>
        <p:nvSpPr>
          <p:cNvPr id="9" name="Extract the deliverable,&#10;owner and due date.&#10;Keep ">
            <a:extLst xmlns:a="http://schemas.openxmlformats.org/drawingml/2006/main">
              <a:ext uri="{FF2B5EF4-FFF2-40B4-BE49-F238E27FC236}">
                <a16:creationId xmlns:a16="http://schemas.microsoft.com/office/drawing/2014/main" id="{BCD2D44A-D69D-4E10-A292-CE5F67302AD3}"/>
              </a:ext>
            </a:extLst>
          </p:cNvPr>
          <p:cNvSpPr>
            <a:spLocks xmlns:a="http://schemas.openxmlformats.org/drawingml/2006/main" noGrp="1"/>
          </p:cNvSpPr>
          <p:nvPr/>
        </p:nvSpPr>
        <p:spPr>
          <a:xfrm xmlns:a="http://schemas.openxmlformats.org/drawingml/2006/main">
            <a:off x="3409950" y="3009900"/>
            <a:ext cx="2524125"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0">
                <a:solidFill>
                  <a:srgbClr val="D5E3E0"/>
                </a:solidFill>
                <a:latin typeface="Arial"/>
                <a:ea typeface="Arial"/>
                <a:cs typeface="Arial"/>
              </a:defRPr>
            </a:pPr>
            <a:r>
              <a:rPr sz="1800" b="0">
                <a:solidFill>
                  <a:srgbClr val="D5E3E0"/>
                </a:solidFill>
                <a:latin typeface="Arial"/>
                <a:ea typeface="Arial"/>
                <a:cs typeface="Arial"/>
              </a:rPr>
              <a:t>Extract the deliverable,</a:t>
            </a:r>
          </a:p>
          <a:p xmlns:a="http://schemas.openxmlformats.org/drawingml/2006/main">
            <a:pPr>
              <a:defRPr sz="1800" b="0">
                <a:solidFill>
                  <a:srgbClr val="D5E3E0"/>
                </a:solidFill>
                <a:latin typeface="Arial"/>
                <a:ea typeface="Arial"/>
                <a:cs typeface="Arial"/>
              </a:defRPr>
            </a:pPr>
            <a:r>
              <a:rPr sz="1800" b="0">
                <a:solidFill>
                  <a:srgbClr val="D5E3E0"/>
                </a:solidFill>
                <a:latin typeface="Arial"/>
                <a:ea typeface="Arial"/>
                <a:cs typeface="Arial"/>
              </a:rPr>
              <a:t>owner and due date.</a:t>
            </a:r>
          </a:p>
          <a:p xmlns:a="http://schemas.openxmlformats.org/drawingml/2006/main">
            <a:pPr>
              <a:defRPr sz="1800" b="0">
                <a:solidFill>
                  <a:srgbClr val="D5E3E0"/>
                </a:solidFill>
                <a:latin typeface="Arial"/>
                <a:ea typeface="Arial"/>
                <a:cs typeface="Arial"/>
              </a:defRPr>
            </a:pPr>
            <a:r>
              <a:rPr sz="1800" b="0">
                <a:solidFill>
                  <a:srgbClr val="D5E3E0"/>
                </a:solidFill>
                <a:latin typeface="Arial"/>
                <a:ea typeface="Arial"/>
                <a:cs typeface="Arial"/>
              </a:rPr>
              <a:t>Keep the source link.</a:t>
            </a:r>
          </a:p>
        </p:txBody>
      </p:sp>
      <p:sp>
        <p:nvSpPr>
          <p:cNvPr id="10" name="03">
            <a:extLst xmlns:a="http://schemas.openxmlformats.org/drawingml/2006/main">
              <a:ext uri="{FF2B5EF4-FFF2-40B4-BE49-F238E27FC236}">
                <a16:creationId xmlns:a16="http://schemas.microsoft.com/office/drawing/2014/main" id="{490BE53D-3D6F-4F31-9446-F1D6B5D902A5}"/>
              </a:ext>
            </a:extLst>
          </p:cNvPr>
          <p:cNvSpPr>
            <a:spLocks xmlns:a="http://schemas.openxmlformats.org/drawingml/2006/main" noGrp="1"/>
          </p:cNvSpPr>
          <p:nvPr/>
        </p:nvSpPr>
        <p:spPr>
          <a:xfrm xmlns:a="http://schemas.openxmlformats.org/drawingml/2006/main">
            <a:off x="6210300" y="1885950"/>
            <a:ext cx="24288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225" b="1">
                <a:solidFill>
                  <a:srgbClr val="D9F589"/>
                </a:solidFill>
                <a:latin typeface="Arial"/>
                <a:ea typeface="Arial"/>
                <a:cs typeface="Arial"/>
              </a:defRPr>
            </a:pPr>
            <a:r>
              <a:rPr sz="3225" b="1">
                <a:solidFill>
                  <a:srgbClr val="D9F589"/>
                </a:solidFill>
                <a:latin typeface="Arial"/>
                <a:ea typeface="Arial"/>
                <a:cs typeface="Arial"/>
              </a:rPr>
              <a:t>03</a:t>
            </a:r>
          </a:p>
        </p:txBody>
      </p:sp>
      <p:sp>
        <p:nvSpPr>
          <p:cNvPr id="11" name="Confirm the task">
            <a:extLst xmlns:a="http://schemas.openxmlformats.org/drawingml/2006/main">
              <a:ext uri="{FF2B5EF4-FFF2-40B4-BE49-F238E27FC236}">
                <a16:creationId xmlns:a16="http://schemas.microsoft.com/office/drawing/2014/main" id="{46FC38CE-98E5-4A3E-A138-A0B373249031}"/>
              </a:ext>
            </a:extLst>
          </p:cNvPr>
          <p:cNvSpPr>
            <a:spLocks xmlns:a="http://schemas.openxmlformats.org/drawingml/2006/main" noGrp="1"/>
          </p:cNvSpPr>
          <p:nvPr/>
        </p:nvSpPr>
        <p:spPr>
          <a:xfrm xmlns:a="http://schemas.openxmlformats.org/drawingml/2006/main">
            <a:off x="6210300" y="2505075"/>
            <a:ext cx="2571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025" b="1">
                <a:solidFill>
                  <a:srgbClr val="FFFFFF"/>
                </a:solidFill>
                <a:latin typeface="Arial"/>
                <a:ea typeface="Arial"/>
                <a:cs typeface="Arial"/>
              </a:defRPr>
            </a:pPr>
            <a:r>
              <a:rPr sz="2025" b="1">
                <a:solidFill>
                  <a:srgbClr val="FFFFFF"/>
                </a:solidFill>
                <a:latin typeface="Arial"/>
                <a:ea typeface="Arial"/>
                <a:cs typeface="Arial"/>
              </a:rPr>
              <a:t>Confirm the task</a:t>
            </a:r>
          </a:p>
        </p:txBody>
      </p:sp>
      <p:sp>
        <p:nvSpPr>
          <p:cNvPr id="12" name="Merge likely duplicates.&#10;Ask about missing details">
            <a:extLst xmlns:a="http://schemas.openxmlformats.org/drawingml/2006/main">
              <a:ext uri="{FF2B5EF4-FFF2-40B4-BE49-F238E27FC236}">
                <a16:creationId xmlns:a16="http://schemas.microsoft.com/office/drawing/2014/main" id="{2F4DADC7-EDEC-4A0E-A9DA-1DF6FE4A1C16}"/>
              </a:ext>
            </a:extLst>
          </p:cNvPr>
          <p:cNvSpPr>
            <a:spLocks xmlns:a="http://schemas.openxmlformats.org/drawingml/2006/main" noGrp="1"/>
          </p:cNvSpPr>
          <p:nvPr/>
        </p:nvSpPr>
        <p:spPr>
          <a:xfrm xmlns:a="http://schemas.openxmlformats.org/drawingml/2006/main">
            <a:off x="6210300" y="3009900"/>
            <a:ext cx="2524125"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0">
                <a:solidFill>
                  <a:srgbClr val="D5E3E0"/>
                </a:solidFill>
                <a:latin typeface="Arial"/>
                <a:ea typeface="Arial"/>
                <a:cs typeface="Arial"/>
              </a:defRPr>
            </a:pPr>
            <a:r>
              <a:rPr sz="1800" b="0">
                <a:solidFill>
                  <a:srgbClr val="D5E3E0"/>
                </a:solidFill>
                <a:latin typeface="Arial"/>
                <a:ea typeface="Arial"/>
                <a:cs typeface="Arial"/>
              </a:rPr>
              <a:t>Merge likely duplicates.</a:t>
            </a:r>
          </a:p>
          <a:p xmlns:a="http://schemas.openxmlformats.org/drawingml/2006/main">
            <a:pPr>
              <a:defRPr sz="1800" b="0">
                <a:solidFill>
                  <a:srgbClr val="D5E3E0"/>
                </a:solidFill>
                <a:latin typeface="Arial"/>
                <a:ea typeface="Arial"/>
                <a:cs typeface="Arial"/>
              </a:defRPr>
            </a:pPr>
            <a:r>
              <a:rPr sz="1800" b="0">
                <a:solidFill>
                  <a:srgbClr val="D5E3E0"/>
                </a:solidFill>
                <a:latin typeface="Arial"/>
                <a:ea typeface="Arial"/>
                <a:cs typeface="Arial"/>
              </a:rPr>
              <a:t>Ask about missing details.</a:t>
            </a:r>
          </a:p>
          <a:p xmlns:a="http://schemas.openxmlformats.org/drawingml/2006/main">
            <a:pPr>
              <a:defRPr sz="1800" b="0">
                <a:solidFill>
                  <a:srgbClr val="D5E3E0"/>
                </a:solidFill>
                <a:latin typeface="Arial"/>
                <a:ea typeface="Arial"/>
                <a:cs typeface="Arial"/>
              </a:defRPr>
            </a:pPr>
            <a:r>
              <a:rPr sz="1800" b="0">
                <a:solidFill>
                  <a:srgbClr val="D5E3E0"/>
                </a:solidFill>
                <a:latin typeface="Arial"/>
                <a:ea typeface="Arial"/>
                <a:cs typeface="Arial"/>
              </a:rPr>
              <a:t>The employee confirms.</a:t>
            </a:r>
          </a:p>
        </p:txBody>
      </p:sp>
      <p:sp>
        <p:nvSpPr>
          <p:cNvPr id="13" name="04">
            <a:extLst xmlns:a="http://schemas.openxmlformats.org/drawingml/2006/main">
              <a:ext uri="{FF2B5EF4-FFF2-40B4-BE49-F238E27FC236}">
                <a16:creationId xmlns:a16="http://schemas.microsoft.com/office/drawing/2014/main" id="{5557A280-9CBE-478D-8AF6-261ADF57BD60}"/>
              </a:ext>
            </a:extLst>
          </p:cNvPr>
          <p:cNvSpPr>
            <a:spLocks xmlns:a="http://schemas.openxmlformats.org/drawingml/2006/main" noGrp="1"/>
          </p:cNvSpPr>
          <p:nvPr/>
        </p:nvSpPr>
        <p:spPr>
          <a:xfrm xmlns:a="http://schemas.openxmlformats.org/drawingml/2006/main">
            <a:off x="9010650" y="1885950"/>
            <a:ext cx="24288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225" b="1">
                <a:solidFill>
                  <a:srgbClr val="D9F589"/>
                </a:solidFill>
                <a:latin typeface="Arial"/>
                <a:ea typeface="Arial"/>
                <a:cs typeface="Arial"/>
              </a:defRPr>
            </a:pPr>
            <a:r>
              <a:rPr sz="3225" b="1">
                <a:solidFill>
                  <a:srgbClr val="D9F589"/>
                </a:solidFill>
                <a:latin typeface="Arial"/>
                <a:ea typeface="Arial"/>
                <a:cs typeface="Arial"/>
              </a:rPr>
              <a:t>04</a:t>
            </a:r>
          </a:p>
        </p:txBody>
      </p:sp>
      <p:sp>
        <p:nvSpPr>
          <p:cNvPr id="14" name="Create the steps">
            <a:extLst xmlns:a="http://schemas.openxmlformats.org/drawingml/2006/main">
              <a:ext uri="{FF2B5EF4-FFF2-40B4-BE49-F238E27FC236}">
                <a16:creationId xmlns:a16="http://schemas.microsoft.com/office/drawing/2014/main" id="{C229DE20-6101-484E-8C10-7BCB1825D45A}"/>
              </a:ext>
            </a:extLst>
          </p:cNvPr>
          <p:cNvSpPr>
            <a:spLocks xmlns:a="http://schemas.openxmlformats.org/drawingml/2006/main" noGrp="1"/>
          </p:cNvSpPr>
          <p:nvPr/>
        </p:nvSpPr>
        <p:spPr>
          <a:xfrm xmlns:a="http://schemas.openxmlformats.org/drawingml/2006/main">
            <a:off x="9010650" y="2505075"/>
            <a:ext cx="2571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025" b="1">
                <a:solidFill>
                  <a:srgbClr val="FFFFFF"/>
                </a:solidFill>
                <a:latin typeface="Arial"/>
                <a:ea typeface="Arial"/>
                <a:cs typeface="Arial"/>
              </a:defRPr>
            </a:pPr>
            <a:r>
              <a:rPr sz="2025" b="1">
                <a:solidFill>
                  <a:srgbClr val="FFFFFF"/>
                </a:solidFill>
                <a:latin typeface="Arial"/>
                <a:ea typeface="Arial"/>
                <a:cs typeface="Arial"/>
              </a:rPr>
              <a:t>Create the steps</a:t>
            </a:r>
          </a:p>
        </p:txBody>
      </p:sp>
      <p:sp>
        <p:nvSpPr>
          <p:cNvPr id="15" name="AI drafts an ordered&#10;checklist. Headroom&#10;checks sc">
            <a:extLst xmlns:a="http://schemas.openxmlformats.org/drawingml/2006/main">
              <a:ext uri="{FF2B5EF4-FFF2-40B4-BE49-F238E27FC236}">
                <a16:creationId xmlns:a16="http://schemas.microsoft.com/office/drawing/2014/main" id="{11F81BDB-B49A-402B-AFFE-9BB552700BB1}"/>
              </a:ext>
            </a:extLst>
          </p:cNvPr>
          <p:cNvSpPr>
            <a:spLocks xmlns:a="http://schemas.openxmlformats.org/drawingml/2006/main" noGrp="1"/>
          </p:cNvSpPr>
          <p:nvPr/>
        </p:nvSpPr>
        <p:spPr>
          <a:xfrm xmlns:a="http://schemas.openxmlformats.org/drawingml/2006/main">
            <a:off x="9010650" y="3009900"/>
            <a:ext cx="2524125"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0">
                <a:solidFill>
                  <a:srgbClr val="D5E3E0"/>
                </a:solidFill>
                <a:latin typeface="Arial"/>
                <a:ea typeface="Arial"/>
                <a:cs typeface="Arial"/>
              </a:defRPr>
            </a:pPr>
            <a:r>
              <a:rPr sz="1800" b="0">
                <a:solidFill>
                  <a:srgbClr val="D5E3E0"/>
                </a:solidFill>
                <a:latin typeface="Arial"/>
                <a:ea typeface="Arial"/>
                <a:cs typeface="Arial"/>
              </a:rPr>
              <a:t>AI drafts an ordered</a:t>
            </a:r>
          </a:p>
          <a:p xmlns:a="http://schemas.openxmlformats.org/drawingml/2006/main">
            <a:pPr>
              <a:defRPr sz="1800" b="0">
                <a:solidFill>
                  <a:srgbClr val="D5E3E0"/>
                </a:solidFill>
                <a:latin typeface="Arial"/>
                <a:ea typeface="Arial"/>
                <a:cs typeface="Arial"/>
              </a:defRPr>
            </a:pPr>
            <a:r>
              <a:rPr sz="1800" b="0">
                <a:solidFill>
                  <a:srgbClr val="D5E3E0"/>
                </a:solidFill>
                <a:latin typeface="Arial"/>
                <a:ea typeface="Arial"/>
                <a:cs typeface="Arial"/>
              </a:rPr>
              <a:t>checklist. Headroom</a:t>
            </a:r>
          </a:p>
          <a:p xmlns:a="http://schemas.openxmlformats.org/drawingml/2006/main">
            <a:pPr>
              <a:defRPr sz="1800" b="0">
                <a:solidFill>
                  <a:srgbClr val="D5E3E0"/>
                </a:solidFill>
                <a:latin typeface="Arial"/>
                <a:ea typeface="Arial"/>
                <a:cs typeface="Arial"/>
              </a:defRPr>
            </a:pPr>
            <a:r>
              <a:rPr sz="1800" b="0">
                <a:solidFill>
                  <a:srgbClr val="D5E3E0"/>
                </a:solidFill>
                <a:latin typeface="Arial"/>
                <a:ea typeface="Arial"/>
                <a:cs typeface="Arial"/>
              </a:rPr>
              <a:t>checks scope and time.</a:t>
            </a:r>
          </a:p>
        </p:txBody>
      </p:sp>
      <p:sp>
        <p:nvSpPr>
          <p:cNvPr id="16" name="Example request">
            <a:extLst xmlns:a="http://schemas.openxmlformats.org/drawingml/2006/main">
              <a:ext uri="{FF2B5EF4-FFF2-40B4-BE49-F238E27FC236}">
                <a16:creationId xmlns:a16="http://schemas.microsoft.com/office/drawing/2014/main" id="{B757F3D5-009B-4A5E-97FC-C33DD32D390D}"/>
              </a:ext>
            </a:extLst>
          </p:cNvPr>
          <p:cNvSpPr>
            <a:spLocks xmlns:a="http://schemas.openxmlformats.org/drawingml/2006/main" noGrp="1"/>
          </p:cNvSpPr>
          <p:nvPr/>
        </p:nvSpPr>
        <p:spPr>
          <a:xfrm xmlns:a="http://schemas.openxmlformats.org/drawingml/2006/main">
            <a:off x="609600" y="4410075"/>
            <a:ext cx="10763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650" b="1">
                <a:solidFill>
                  <a:srgbClr val="D9F589"/>
                </a:solidFill>
                <a:latin typeface="Arial"/>
                <a:ea typeface="Arial"/>
                <a:cs typeface="Arial"/>
              </a:defRPr>
            </a:pPr>
            <a:r>
              <a:rPr sz="1650" b="1">
                <a:solidFill>
                  <a:srgbClr val="D9F589"/>
                </a:solidFill>
                <a:latin typeface="Arial"/>
                <a:ea typeface="Arial"/>
                <a:cs typeface="Arial"/>
              </a:rPr>
              <a:t>Example request</a:t>
            </a:r>
          </a:p>
        </p:txBody>
      </p:sp>
      <p:sp>
        <p:nvSpPr>
          <p:cNvPr id="17" name="“Alex, compare three competitors’ pricing and send">
            <a:extLst xmlns:a="http://schemas.openxmlformats.org/drawingml/2006/main">
              <a:ext uri="{FF2B5EF4-FFF2-40B4-BE49-F238E27FC236}">
                <a16:creationId xmlns:a16="http://schemas.microsoft.com/office/drawing/2014/main" id="{20DAFFB3-C864-4C3C-AEB4-9746CE8B04FD}"/>
              </a:ext>
            </a:extLst>
          </p:cNvPr>
          <p:cNvSpPr>
            <a:spLocks xmlns:a="http://schemas.openxmlformats.org/drawingml/2006/main" noGrp="1"/>
          </p:cNvSpPr>
          <p:nvPr/>
        </p:nvSpPr>
        <p:spPr>
          <a:xfrm xmlns:a="http://schemas.openxmlformats.org/drawingml/2006/main">
            <a:off x="609600" y="480060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75" b="0">
                <a:solidFill>
                  <a:srgbClr val="FFFFFF"/>
                </a:solidFill>
                <a:latin typeface="Arial"/>
                <a:ea typeface="Arial"/>
                <a:cs typeface="Arial"/>
              </a:defRPr>
            </a:pPr>
            <a:r>
              <a:rPr sz="2175" b="0">
                <a:solidFill>
                  <a:srgbClr val="FFFFFF"/>
                </a:solidFill>
                <a:latin typeface="Arial"/>
                <a:ea typeface="Arial"/>
                <a:cs typeface="Arial"/>
              </a:rPr>
              <a:t>“Alex, compare three competitors’ pricing and send a one-page summary by Friday.”</a:t>
            </a:r>
          </a:p>
        </p:txBody>
      </p:sp>
      <p:sp>
        <p:nvSpPr>
          <p:cNvPr id="18" name="Choose criteria 30m   /   Collect pricing 90m   / ">
            <a:extLst xmlns:a="http://schemas.openxmlformats.org/drawingml/2006/main">
              <a:ext uri="{FF2B5EF4-FFF2-40B4-BE49-F238E27FC236}">
                <a16:creationId xmlns:a16="http://schemas.microsoft.com/office/drawing/2014/main" id="{17830EE6-4FBD-4415-B00A-162ED187F9EE}"/>
              </a:ext>
            </a:extLst>
          </p:cNvPr>
          <p:cNvSpPr>
            <a:spLocks xmlns:a="http://schemas.openxmlformats.org/drawingml/2006/main" noGrp="1"/>
          </p:cNvSpPr>
          <p:nvPr/>
        </p:nvSpPr>
        <p:spPr>
          <a:xfrm xmlns:a="http://schemas.openxmlformats.org/drawingml/2006/main">
            <a:off x="609600" y="5705475"/>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725" b="0">
                <a:solidFill>
                  <a:srgbClr val="D9F589"/>
                </a:solidFill>
                <a:latin typeface="Arial"/>
                <a:ea typeface="Arial"/>
                <a:cs typeface="Arial"/>
              </a:defRPr>
            </a:pPr>
            <a:r>
              <a:rPr sz="1725" b="0">
                <a:solidFill>
                  <a:srgbClr val="D9F589"/>
                </a:solidFill>
                <a:latin typeface="Arial"/>
                <a:ea typeface="Arial"/>
                <a:cs typeface="Arial"/>
              </a:rPr>
              <a:t>Choose criteria 30m   /   Collect pricing 90m   /   Compare 90m   /   Review summary 30m</a:t>
            </a:r>
          </a:p>
        </p:txBody>
      </p:sp>
    </p:spTree>
    <p:extLst>
      <p:ext uri="{BB962C8B-B14F-4D97-AF65-F5344CB8AC3E}">
        <p14:creationId xmlns:p14="http://schemas.microsoft.com/office/powerpoint/2010/main" val="1785276416"/>
      </p:ext>
    </p:extLst>
  </p:cSld>
</p:sld>
</file>

<file path=ppt/slides/slide3.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19" name="headroom.">
            <a:extLst xmlns:a="http://schemas.openxmlformats.org/drawingml/2006/main">
              <a:ext uri="{FF2B5EF4-FFF2-40B4-BE49-F238E27FC236}">
                <a16:creationId xmlns:a16="http://schemas.microsoft.com/office/drawing/2014/main" id="{26E1A03C-9C8B-41D0-8122-392B7D08D6DE}"/>
              </a:ext>
            </a:extLst>
          </p:cNvPr>
          <p:cNvSpPr>
            <a:spLocks xmlns:a="http://schemas.openxmlformats.org/drawingml/2006/main" noGrp="1"/>
          </p:cNvSpPr>
          <p:nvPr/>
        </p:nvSpPr>
        <p:spPr>
          <a:xfrm xmlns:a="http://schemas.openxmlformats.org/drawingml/2006/main">
            <a:off x="609600" y="304800"/>
            <a:ext cx="2476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1">
                <a:solidFill>
                  <a:srgbClr val="173B40"/>
                </a:solidFill>
                <a:latin typeface="Arial"/>
                <a:ea typeface="Arial"/>
                <a:cs typeface="Arial"/>
              </a:defRPr>
            </a:pPr>
            <a:r>
              <a:rPr sz="1800" b="1">
                <a:solidFill>
                  <a:srgbClr val="173B40"/>
                </a:solidFill>
                <a:latin typeface="Arial"/>
                <a:ea typeface="Arial"/>
                <a:cs typeface="Arial"/>
              </a:rPr>
              <a:t>headroom.</a:t>
            </a:r>
          </a:p>
        </p:txBody>
      </p:sp>
      <p:sp>
        <p:nvSpPr>
          <p:cNvPr id="2" name="Learning each employee’s task estimates">
            <a:extLst xmlns:a="http://schemas.openxmlformats.org/drawingml/2006/main">
              <a:ext uri="{FF2B5EF4-FFF2-40B4-BE49-F238E27FC236}">
                <a16:creationId xmlns:a16="http://schemas.microsoft.com/office/drawing/2014/main" id="{ADD3DFFE-0418-417C-B13B-DC3130077587}"/>
              </a:ext>
            </a:extLst>
          </p:cNvPr>
          <p:cNvSpPr>
            <a:spLocks xmlns:a="http://schemas.openxmlformats.org/drawingml/2006/main" noGrp="1"/>
          </p:cNvSpPr>
          <p:nvPr/>
        </p:nvSpPr>
        <p:spPr>
          <a:xfrm xmlns:a="http://schemas.openxmlformats.org/drawingml/2006/main">
            <a:off x="609600" y="923925"/>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300" b="1">
                <a:solidFill>
                  <a:srgbClr val="173B40"/>
                </a:solidFill>
                <a:latin typeface="Arial"/>
                <a:ea typeface="Arial"/>
                <a:cs typeface="Arial"/>
              </a:defRPr>
            </a:pPr>
            <a:r>
              <a:rPr sz="3300" b="1">
                <a:solidFill>
                  <a:srgbClr val="173B40"/>
                </a:solidFill>
                <a:latin typeface="Arial"/>
                <a:ea typeface="Arial"/>
                <a:cs typeface="Arial"/>
              </a:rPr>
              <a:t>Learning each employee’s task estimates</a:t>
            </a:r>
          </a:p>
        </p:txBody>
      </p:sp>
      <p:sp>
        <p:nvSpPr>
          <p:cNvPr id="3" name="Proposed product design   /   3 of 4">
            <a:extLst xmlns:a="http://schemas.openxmlformats.org/drawingml/2006/main">
              <a:ext uri="{FF2B5EF4-FFF2-40B4-BE49-F238E27FC236}">
                <a16:creationId xmlns:a16="http://schemas.microsoft.com/office/drawing/2014/main" id="{3E8B2D36-0326-4DEA-A861-6254F61544F5}"/>
              </a:ext>
            </a:extLst>
          </p:cNvPr>
          <p:cNvSpPr>
            <a:spLocks xmlns:a="http://schemas.openxmlformats.org/drawingml/2006/main" noGrp="1"/>
          </p:cNvSpPr>
          <p:nvPr/>
        </p:nvSpPr>
        <p:spPr>
          <a:xfrm xmlns:a="http://schemas.openxmlformats.org/drawingml/2006/main">
            <a:off x="609600" y="6419850"/>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00" b="0">
                <a:solidFill>
                  <a:srgbClr val="596764"/>
                </a:solidFill>
                <a:latin typeface="Arial"/>
                <a:ea typeface="Arial"/>
                <a:cs typeface="Arial"/>
              </a:defRPr>
            </a:pPr>
            <a:r>
              <a:rPr sz="1200" b="0">
                <a:solidFill>
                  <a:srgbClr val="596764"/>
                </a:solidFill>
                <a:latin typeface="Arial"/>
                <a:ea typeface="Arial"/>
                <a:cs typeface="Arial"/>
              </a:rPr>
              <a:t>Proposed product design   /   3 of 4</a:t>
            </a:r>
          </a:p>
        </p:txBody>
      </p:sp>
      <p:sp>
        <p:nvSpPr>
          <p:cNvPr id="4" name="The model learns how much effort similar work take">
            <a:extLst xmlns:a="http://schemas.openxmlformats.org/drawingml/2006/main">
              <a:ext uri="{FF2B5EF4-FFF2-40B4-BE49-F238E27FC236}">
                <a16:creationId xmlns:a16="http://schemas.microsoft.com/office/drawing/2014/main" id="{5B8D5177-16AC-47F9-9B07-71407F0CF8D7}"/>
              </a:ext>
            </a:extLst>
          </p:cNvPr>
          <p:cNvSpPr>
            <a:spLocks xmlns:a="http://schemas.openxmlformats.org/drawingml/2006/main" noGrp="1"/>
          </p:cNvSpPr>
          <p:nvPr/>
        </p:nvSpPr>
        <p:spPr>
          <a:xfrm xmlns:a="http://schemas.openxmlformats.org/drawingml/2006/main">
            <a:off x="609600" y="1657350"/>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025" b="0">
                <a:solidFill>
                  <a:srgbClr val="596764"/>
                </a:solidFill>
                <a:latin typeface="Arial"/>
                <a:ea typeface="Arial"/>
                <a:cs typeface="Arial"/>
              </a:defRPr>
            </a:pPr>
            <a:r>
              <a:rPr sz="2025" b="0">
                <a:solidFill>
                  <a:srgbClr val="596764"/>
                </a:solidFill>
                <a:latin typeface="Arial"/>
                <a:ea typeface="Arial"/>
                <a:cs typeface="Arial"/>
              </a:rPr>
              <a:t>The model learns how much effort similar work takes for this person.</a:t>
            </a:r>
          </a:p>
        </p:txBody>
      </p:sp>
      <p:sp>
        <p:nvSpPr>
          <p:cNvPr id="5" name="01">
            <a:extLst xmlns:a="http://schemas.openxmlformats.org/drawingml/2006/main">
              <a:ext uri="{FF2B5EF4-FFF2-40B4-BE49-F238E27FC236}">
                <a16:creationId xmlns:a16="http://schemas.microsoft.com/office/drawing/2014/main" id="{92268AE3-F99E-4391-A44C-95A0C65AFB52}"/>
              </a:ext>
            </a:extLst>
          </p:cNvPr>
          <p:cNvSpPr>
            <a:spLocks xmlns:a="http://schemas.openxmlformats.org/drawingml/2006/main" noGrp="1"/>
          </p:cNvSpPr>
          <p:nvPr/>
        </p:nvSpPr>
        <p:spPr>
          <a:xfrm xmlns:a="http://schemas.openxmlformats.org/drawingml/2006/main">
            <a:off x="609600" y="2476500"/>
            <a:ext cx="24288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225" b="1">
                <a:solidFill>
                  <a:srgbClr val="173B40"/>
                </a:solidFill>
                <a:latin typeface="Arial"/>
                <a:ea typeface="Arial"/>
                <a:cs typeface="Arial"/>
              </a:defRPr>
            </a:pPr>
            <a:r>
              <a:rPr sz="3225" b="1">
                <a:solidFill>
                  <a:srgbClr val="173B40"/>
                </a:solidFill>
                <a:latin typeface="Arial"/>
                <a:ea typeface="Arial"/>
                <a:cs typeface="Arial"/>
              </a:rPr>
              <a:t>01</a:t>
            </a:r>
          </a:p>
        </p:txBody>
      </p:sp>
      <p:sp>
        <p:nvSpPr>
          <p:cNvPr id="6" name="Start with a baseline">
            <a:extLst xmlns:a="http://schemas.openxmlformats.org/drawingml/2006/main">
              <a:ext uri="{FF2B5EF4-FFF2-40B4-BE49-F238E27FC236}">
                <a16:creationId xmlns:a16="http://schemas.microsoft.com/office/drawing/2014/main" id="{71DF6604-7BF2-42A5-823C-C0C0644CA480}"/>
              </a:ext>
            </a:extLst>
          </p:cNvPr>
          <p:cNvSpPr>
            <a:spLocks xmlns:a="http://schemas.openxmlformats.org/drawingml/2006/main" noGrp="1"/>
          </p:cNvSpPr>
          <p:nvPr/>
        </p:nvSpPr>
        <p:spPr>
          <a:xfrm xmlns:a="http://schemas.openxmlformats.org/drawingml/2006/main">
            <a:off x="609600" y="3095625"/>
            <a:ext cx="2571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025" b="1">
                <a:solidFill>
                  <a:srgbClr val="173B40"/>
                </a:solidFill>
                <a:latin typeface="Arial"/>
                <a:ea typeface="Arial"/>
                <a:cs typeface="Arial"/>
              </a:defRPr>
            </a:pPr>
            <a:r>
              <a:rPr sz="2025" b="1">
                <a:solidFill>
                  <a:srgbClr val="173B40"/>
                </a:solidFill>
                <a:latin typeface="Arial"/>
                <a:ea typeface="Arial"/>
                <a:cs typeface="Arial"/>
              </a:rPr>
              <a:t>Start with a baseline</a:t>
            </a:r>
          </a:p>
        </p:txBody>
      </p:sp>
      <p:sp>
        <p:nvSpPr>
          <p:cNvPr id="7" name="Use similar tasks and&#10;their scope. Start with&#10;a te">
            <a:extLst xmlns:a="http://schemas.openxmlformats.org/drawingml/2006/main">
              <a:ext uri="{FF2B5EF4-FFF2-40B4-BE49-F238E27FC236}">
                <a16:creationId xmlns:a16="http://schemas.microsoft.com/office/drawing/2014/main" id="{6FEDC5C1-FB24-4D1E-BAA5-A47E702B7623}"/>
              </a:ext>
            </a:extLst>
          </p:cNvPr>
          <p:cNvSpPr>
            <a:spLocks xmlns:a="http://schemas.openxmlformats.org/drawingml/2006/main" noGrp="1"/>
          </p:cNvSpPr>
          <p:nvPr/>
        </p:nvSpPr>
        <p:spPr>
          <a:xfrm xmlns:a="http://schemas.openxmlformats.org/drawingml/2006/main">
            <a:off x="609600" y="3609975"/>
            <a:ext cx="2524125"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0">
                <a:solidFill>
                  <a:srgbClr val="596764"/>
                </a:solidFill>
                <a:latin typeface="Arial"/>
                <a:ea typeface="Arial"/>
                <a:cs typeface="Arial"/>
              </a:defRPr>
            </a:pPr>
            <a:r>
              <a:rPr sz="1800" b="0">
                <a:solidFill>
                  <a:srgbClr val="596764"/>
                </a:solidFill>
                <a:latin typeface="Arial"/>
                <a:ea typeface="Arial"/>
                <a:cs typeface="Arial"/>
              </a:rPr>
              <a:t>Use similar tasks and</a:t>
            </a:r>
          </a:p>
          <a:p xmlns:a="http://schemas.openxmlformats.org/drawingml/2006/main">
            <a:pPr>
              <a:defRPr sz="1800" b="0">
                <a:solidFill>
                  <a:srgbClr val="596764"/>
                </a:solidFill>
                <a:latin typeface="Arial"/>
                <a:ea typeface="Arial"/>
                <a:cs typeface="Arial"/>
              </a:defRPr>
            </a:pPr>
            <a:r>
              <a:rPr sz="1800" b="0">
                <a:solidFill>
                  <a:srgbClr val="596764"/>
                </a:solidFill>
                <a:latin typeface="Arial"/>
                <a:ea typeface="Arial"/>
                <a:cs typeface="Arial"/>
              </a:rPr>
              <a:t>their scope. Start with</a:t>
            </a:r>
          </a:p>
          <a:p xmlns:a="http://schemas.openxmlformats.org/drawingml/2006/main">
            <a:pPr>
              <a:defRPr sz="1800" b="0">
                <a:solidFill>
                  <a:srgbClr val="596764"/>
                </a:solidFill>
                <a:latin typeface="Arial"/>
                <a:ea typeface="Arial"/>
                <a:cs typeface="Arial"/>
              </a:defRPr>
            </a:pPr>
            <a:r>
              <a:rPr sz="1800" b="0">
                <a:solidFill>
                  <a:srgbClr val="596764"/>
                </a:solidFill>
                <a:latin typeface="Arial"/>
                <a:ea typeface="Arial"/>
                <a:cs typeface="Arial"/>
              </a:rPr>
              <a:t>a team baseline when</a:t>
            </a:r>
          </a:p>
          <a:p xmlns:a="http://schemas.openxmlformats.org/drawingml/2006/main">
            <a:pPr>
              <a:defRPr sz="1800" b="0">
                <a:solidFill>
                  <a:srgbClr val="596764"/>
                </a:solidFill>
                <a:latin typeface="Arial"/>
                <a:ea typeface="Arial"/>
                <a:cs typeface="Arial"/>
              </a:defRPr>
            </a:pPr>
            <a:r>
              <a:rPr sz="1800" b="0">
                <a:solidFill>
                  <a:srgbClr val="596764"/>
                </a:solidFill>
                <a:latin typeface="Arial"/>
                <a:ea typeface="Arial"/>
                <a:cs typeface="Arial"/>
              </a:rPr>
              <a:t>personal history is thin.</a:t>
            </a:r>
          </a:p>
        </p:txBody>
      </p:sp>
      <p:sp>
        <p:nvSpPr>
          <p:cNvPr id="8" name="02">
            <a:extLst xmlns:a="http://schemas.openxmlformats.org/drawingml/2006/main">
              <a:ext uri="{FF2B5EF4-FFF2-40B4-BE49-F238E27FC236}">
                <a16:creationId xmlns:a16="http://schemas.microsoft.com/office/drawing/2014/main" id="{BB35EF8B-62FD-4D32-9A8C-74A80F769229}"/>
              </a:ext>
            </a:extLst>
          </p:cNvPr>
          <p:cNvSpPr>
            <a:spLocks xmlns:a="http://schemas.openxmlformats.org/drawingml/2006/main" noGrp="1"/>
          </p:cNvSpPr>
          <p:nvPr/>
        </p:nvSpPr>
        <p:spPr>
          <a:xfrm xmlns:a="http://schemas.openxmlformats.org/drawingml/2006/main">
            <a:off x="3409950" y="2476500"/>
            <a:ext cx="24288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225" b="1">
                <a:solidFill>
                  <a:srgbClr val="173B40"/>
                </a:solidFill>
                <a:latin typeface="Arial"/>
                <a:ea typeface="Arial"/>
                <a:cs typeface="Arial"/>
              </a:defRPr>
            </a:pPr>
            <a:r>
              <a:rPr sz="3225" b="1">
                <a:solidFill>
                  <a:srgbClr val="173B40"/>
                </a:solidFill>
                <a:latin typeface="Arial"/>
                <a:ea typeface="Arial"/>
                <a:cs typeface="Arial"/>
              </a:rPr>
              <a:t>02</a:t>
            </a:r>
          </a:p>
        </p:txBody>
      </p:sp>
      <p:sp>
        <p:nvSpPr>
          <p:cNvPr id="9" name="Record actual effort">
            <a:extLst xmlns:a="http://schemas.openxmlformats.org/drawingml/2006/main">
              <a:ext uri="{FF2B5EF4-FFF2-40B4-BE49-F238E27FC236}">
                <a16:creationId xmlns:a16="http://schemas.microsoft.com/office/drawing/2014/main" id="{31432169-76DE-46D2-B84C-50791E721855}"/>
              </a:ext>
            </a:extLst>
          </p:cNvPr>
          <p:cNvSpPr>
            <a:spLocks xmlns:a="http://schemas.openxmlformats.org/drawingml/2006/main" noGrp="1"/>
          </p:cNvSpPr>
          <p:nvPr/>
        </p:nvSpPr>
        <p:spPr>
          <a:xfrm xmlns:a="http://schemas.openxmlformats.org/drawingml/2006/main">
            <a:off x="3409950" y="3095625"/>
            <a:ext cx="2571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025" b="1">
                <a:solidFill>
                  <a:srgbClr val="173B40"/>
                </a:solidFill>
                <a:latin typeface="Arial"/>
                <a:ea typeface="Arial"/>
                <a:cs typeface="Arial"/>
              </a:defRPr>
            </a:pPr>
            <a:r>
              <a:rPr sz="2025" b="1">
                <a:solidFill>
                  <a:srgbClr val="173B40"/>
                </a:solidFill>
                <a:latin typeface="Arial"/>
                <a:ea typeface="Arial"/>
                <a:cs typeface="Arial"/>
              </a:rPr>
              <a:t>Record actual effort</a:t>
            </a:r>
          </a:p>
        </p:txBody>
      </p:sp>
      <p:sp>
        <p:nvSpPr>
          <p:cNvPr id="10" name="At completion, the&#10;employee confirms time&#10;spent. T">
            <a:extLst xmlns:a="http://schemas.openxmlformats.org/drawingml/2006/main">
              <a:ext uri="{FF2B5EF4-FFF2-40B4-BE49-F238E27FC236}">
                <a16:creationId xmlns:a16="http://schemas.microsoft.com/office/drawing/2014/main" id="{BD72F8B2-563D-46E3-ACDF-B0AE1A3989B3}"/>
              </a:ext>
            </a:extLst>
          </p:cNvPr>
          <p:cNvSpPr>
            <a:spLocks xmlns:a="http://schemas.openxmlformats.org/drawingml/2006/main" noGrp="1"/>
          </p:cNvSpPr>
          <p:nvPr/>
        </p:nvSpPr>
        <p:spPr>
          <a:xfrm xmlns:a="http://schemas.openxmlformats.org/drawingml/2006/main">
            <a:off x="3409950" y="3609975"/>
            <a:ext cx="2524125"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0">
                <a:solidFill>
                  <a:srgbClr val="596764"/>
                </a:solidFill>
                <a:latin typeface="Arial"/>
                <a:ea typeface="Arial"/>
                <a:cs typeface="Arial"/>
              </a:defRPr>
            </a:pPr>
            <a:r>
              <a:rPr sz="1800" b="0">
                <a:solidFill>
                  <a:srgbClr val="596764"/>
                </a:solidFill>
                <a:latin typeface="Arial"/>
                <a:ea typeface="Arial"/>
                <a:cs typeface="Arial"/>
              </a:rPr>
              <a:t>At completion, the</a:t>
            </a:r>
          </a:p>
          <a:p xmlns:a="http://schemas.openxmlformats.org/drawingml/2006/main">
            <a:pPr>
              <a:defRPr sz="1800" b="0">
                <a:solidFill>
                  <a:srgbClr val="596764"/>
                </a:solidFill>
                <a:latin typeface="Arial"/>
                <a:ea typeface="Arial"/>
                <a:cs typeface="Arial"/>
              </a:defRPr>
            </a:pPr>
            <a:r>
              <a:rPr sz="1800" b="0">
                <a:solidFill>
                  <a:srgbClr val="596764"/>
                </a:solidFill>
                <a:latin typeface="Arial"/>
                <a:ea typeface="Arial"/>
                <a:cs typeface="Arial"/>
              </a:rPr>
              <a:t>employee confirms time</a:t>
            </a:r>
          </a:p>
          <a:p xmlns:a="http://schemas.openxmlformats.org/drawingml/2006/main">
            <a:pPr>
              <a:defRPr sz="1800" b="0">
                <a:solidFill>
                  <a:srgbClr val="596764"/>
                </a:solidFill>
                <a:latin typeface="Arial"/>
                <a:ea typeface="Arial"/>
                <a:cs typeface="Arial"/>
              </a:defRPr>
            </a:pPr>
            <a:r>
              <a:rPr sz="1800" b="0">
                <a:solidFill>
                  <a:srgbClr val="596764"/>
                </a:solidFill>
                <a:latin typeface="Arial"/>
                <a:ea typeface="Arial"/>
                <a:cs typeface="Arial"/>
              </a:rPr>
              <a:t>spent. Track waiting and</a:t>
            </a:r>
          </a:p>
          <a:p xmlns:a="http://schemas.openxmlformats.org/drawingml/2006/main">
            <a:pPr>
              <a:defRPr sz="1800" b="0">
                <a:solidFill>
                  <a:srgbClr val="596764"/>
                </a:solidFill>
                <a:latin typeface="Arial"/>
                <a:ea typeface="Arial"/>
                <a:cs typeface="Arial"/>
              </a:defRPr>
            </a:pPr>
            <a:r>
              <a:rPr sz="1800" b="0">
                <a:solidFill>
                  <a:srgbClr val="596764"/>
                </a:solidFill>
                <a:latin typeface="Arial"/>
                <a:ea typeface="Arial"/>
                <a:cs typeface="Arial"/>
              </a:rPr>
              <a:t>scope changes separately.</a:t>
            </a:r>
          </a:p>
        </p:txBody>
      </p:sp>
      <p:sp>
        <p:nvSpPr>
          <p:cNvPr id="11" name="03">
            <a:extLst xmlns:a="http://schemas.openxmlformats.org/drawingml/2006/main">
              <a:ext uri="{FF2B5EF4-FFF2-40B4-BE49-F238E27FC236}">
                <a16:creationId xmlns:a16="http://schemas.microsoft.com/office/drawing/2014/main" id="{CEE1AE05-9D4A-42E1-B5C9-D1401BA0C69E}"/>
              </a:ext>
            </a:extLst>
          </p:cNvPr>
          <p:cNvSpPr>
            <a:spLocks xmlns:a="http://schemas.openxmlformats.org/drawingml/2006/main" noGrp="1"/>
          </p:cNvSpPr>
          <p:nvPr/>
        </p:nvSpPr>
        <p:spPr>
          <a:xfrm xmlns:a="http://schemas.openxmlformats.org/drawingml/2006/main">
            <a:off x="6210300" y="2476500"/>
            <a:ext cx="24288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225" b="1">
                <a:solidFill>
                  <a:srgbClr val="173B40"/>
                </a:solidFill>
                <a:latin typeface="Arial"/>
                <a:ea typeface="Arial"/>
                <a:cs typeface="Arial"/>
              </a:defRPr>
            </a:pPr>
            <a:r>
              <a:rPr sz="3225" b="1">
                <a:solidFill>
                  <a:srgbClr val="173B40"/>
                </a:solidFill>
                <a:latin typeface="Arial"/>
                <a:ea typeface="Arial"/>
                <a:cs typeface="Arial"/>
              </a:rPr>
              <a:t>03</a:t>
            </a:r>
          </a:p>
        </p:txBody>
      </p:sp>
      <p:sp>
        <p:nvSpPr>
          <p:cNvPr id="12" name="Learn the pattern">
            <a:extLst xmlns:a="http://schemas.openxmlformats.org/drawingml/2006/main">
              <a:ext uri="{FF2B5EF4-FFF2-40B4-BE49-F238E27FC236}">
                <a16:creationId xmlns:a16="http://schemas.microsoft.com/office/drawing/2014/main" id="{9E57B893-2C42-43EF-83FB-10A52D01BBAE}"/>
              </a:ext>
            </a:extLst>
          </p:cNvPr>
          <p:cNvSpPr>
            <a:spLocks xmlns:a="http://schemas.openxmlformats.org/drawingml/2006/main" noGrp="1"/>
          </p:cNvSpPr>
          <p:nvPr/>
        </p:nvSpPr>
        <p:spPr>
          <a:xfrm xmlns:a="http://schemas.openxmlformats.org/drawingml/2006/main">
            <a:off x="6210300" y="3095625"/>
            <a:ext cx="2571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025" b="1">
                <a:solidFill>
                  <a:srgbClr val="173B40"/>
                </a:solidFill>
                <a:latin typeface="Arial"/>
                <a:ea typeface="Arial"/>
                <a:cs typeface="Arial"/>
              </a:defRPr>
            </a:pPr>
            <a:r>
              <a:rPr sz="2025" b="1">
                <a:solidFill>
                  <a:srgbClr val="173B40"/>
                </a:solidFill>
                <a:latin typeface="Arial"/>
                <a:ea typeface="Arial"/>
                <a:cs typeface="Arial"/>
              </a:rPr>
              <a:t>Learn the pattern</a:t>
            </a:r>
          </a:p>
        </p:txBody>
      </p:sp>
      <p:sp>
        <p:nvSpPr>
          <p:cNvPr id="13" name="Compare actual effort&#10;with the saved baseline.&#10;Giv">
            <a:extLst xmlns:a="http://schemas.openxmlformats.org/drawingml/2006/main">
              <a:ext uri="{FF2B5EF4-FFF2-40B4-BE49-F238E27FC236}">
                <a16:creationId xmlns:a16="http://schemas.microsoft.com/office/drawing/2014/main" id="{5D092137-1351-4032-B5EB-411209B93D76}"/>
              </a:ext>
            </a:extLst>
          </p:cNvPr>
          <p:cNvSpPr>
            <a:spLocks xmlns:a="http://schemas.openxmlformats.org/drawingml/2006/main" noGrp="1"/>
          </p:cNvSpPr>
          <p:nvPr/>
        </p:nvSpPr>
        <p:spPr>
          <a:xfrm xmlns:a="http://schemas.openxmlformats.org/drawingml/2006/main">
            <a:off x="6210300" y="3609975"/>
            <a:ext cx="2524125"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0">
                <a:solidFill>
                  <a:srgbClr val="596764"/>
                </a:solidFill>
                <a:latin typeface="Arial"/>
                <a:ea typeface="Arial"/>
                <a:cs typeface="Arial"/>
              </a:defRPr>
            </a:pPr>
            <a:r>
              <a:rPr sz="1800" b="0">
                <a:solidFill>
                  <a:srgbClr val="596764"/>
                </a:solidFill>
                <a:latin typeface="Arial"/>
                <a:ea typeface="Arial"/>
                <a:cs typeface="Arial"/>
              </a:rPr>
              <a:t>Compare actual effort</a:t>
            </a:r>
          </a:p>
          <a:p xmlns:a="http://schemas.openxmlformats.org/drawingml/2006/main">
            <a:pPr>
              <a:defRPr sz="1800" b="0">
                <a:solidFill>
                  <a:srgbClr val="596764"/>
                </a:solidFill>
                <a:latin typeface="Arial"/>
                <a:ea typeface="Arial"/>
                <a:cs typeface="Arial"/>
              </a:defRPr>
            </a:pPr>
            <a:r>
              <a:rPr sz="1800" b="0">
                <a:solidFill>
                  <a:srgbClr val="596764"/>
                </a:solidFill>
                <a:latin typeface="Arial"/>
                <a:ea typeface="Arial"/>
                <a:cs typeface="Arial"/>
              </a:rPr>
              <a:t>with the saved baseline.</a:t>
            </a:r>
          </a:p>
          <a:p xmlns:a="http://schemas.openxmlformats.org/drawingml/2006/main">
            <a:pPr>
              <a:defRPr sz="1800" b="0">
                <a:solidFill>
                  <a:srgbClr val="596764"/>
                </a:solidFill>
                <a:latin typeface="Arial"/>
                <a:ea typeface="Arial"/>
                <a:cs typeface="Arial"/>
              </a:defRPr>
            </a:pPr>
            <a:r>
              <a:rPr sz="1800" b="0">
                <a:solidFill>
                  <a:srgbClr val="596764"/>
                </a:solidFill>
                <a:latin typeface="Arial"/>
                <a:ea typeface="Arial"/>
                <a:cs typeface="Arial"/>
              </a:rPr>
              <a:t>Give recent, comparable</a:t>
            </a:r>
          </a:p>
          <a:p xmlns:a="http://schemas.openxmlformats.org/drawingml/2006/main">
            <a:pPr>
              <a:defRPr sz="1800" b="0">
                <a:solidFill>
                  <a:srgbClr val="596764"/>
                </a:solidFill>
                <a:latin typeface="Arial"/>
                <a:ea typeface="Arial"/>
                <a:cs typeface="Arial"/>
              </a:defRPr>
            </a:pPr>
            <a:r>
              <a:rPr sz="1800" b="0">
                <a:solidFill>
                  <a:srgbClr val="596764"/>
                </a:solidFill>
                <a:latin typeface="Arial"/>
                <a:ea typeface="Arial"/>
                <a:cs typeface="Arial"/>
              </a:rPr>
              <a:t>tasks more weight.</a:t>
            </a:r>
          </a:p>
        </p:txBody>
      </p:sp>
      <p:sp>
        <p:nvSpPr>
          <p:cNvPr id="14" name="04">
            <a:extLst xmlns:a="http://schemas.openxmlformats.org/drawingml/2006/main">
              <a:ext uri="{FF2B5EF4-FFF2-40B4-BE49-F238E27FC236}">
                <a16:creationId xmlns:a16="http://schemas.microsoft.com/office/drawing/2014/main" id="{D7AB6FC2-ED98-473D-B67D-BEC54772C1A4}"/>
              </a:ext>
            </a:extLst>
          </p:cNvPr>
          <p:cNvSpPr>
            <a:spLocks xmlns:a="http://schemas.openxmlformats.org/drawingml/2006/main" noGrp="1"/>
          </p:cNvSpPr>
          <p:nvPr/>
        </p:nvSpPr>
        <p:spPr>
          <a:xfrm xmlns:a="http://schemas.openxmlformats.org/drawingml/2006/main">
            <a:off x="9010650" y="2476500"/>
            <a:ext cx="24288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225" b="1">
                <a:solidFill>
                  <a:srgbClr val="173B40"/>
                </a:solidFill>
                <a:latin typeface="Arial"/>
                <a:ea typeface="Arial"/>
                <a:cs typeface="Arial"/>
              </a:defRPr>
            </a:pPr>
            <a:r>
              <a:rPr sz="3225" b="1">
                <a:solidFill>
                  <a:srgbClr val="173B40"/>
                </a:solidFill>
                <a:latin typeface="Arial"/>
                <a:ea typeface="Arial"/>
                <a:cs typeface="Arial"/>
              </a:rPr>
              <a:t>04</a:t>
            </a:r>
          </a:p>
        </p:txBody>
      </p:sp>
      <p:sp>
        <p:nvSpPr>
          <p:cNvPr id="15" name="Adjust future tasks">
            <a:extLst xmlns:a="http://schemas.openxmlformats.org/drawingml/2006/main">
              <a:ext uri="{FF2B5EF4-FFF2-40B4-BE49-F238E27FC236}">
                <a16:creationId xmlns:a16="http://schemas.microsoft.com/office/drawing/2014/main" id="{71997063-56B7-4CFD-BC86-BB933C570BFA}"/>
              </a:ext>
            </a:extLst>
          </p:cNvPr>
          <p:cNvSpPr>
            <a:spLocks xmlns:a="http://schemas.openxmlformats.org/drawingml/2006/main" noGrp="1"/>
          </p:cNvSpPr>
          <p:nvPr/>
        </p:nvSpPr>
        <p:spPr>
          <a:xfrm xmlns:a="http://schemas.openxmlformats.org/drawingml/2006/main">
            <a:off x="9010650" y="3095625"/>
            <a:ext cx="2571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025" b="1">
                <a:solidFill>
                  <a:srgbClr val="173B40"/>
                </a:solidFill>
                <a:latin typeface="Arial"/>
                <a:ea typeface="Arial"/>
                <a:cs typeface="Arial"/>
              </a:defRPr>
            </a:pPr>
            <a:r>
              <a:rPr sz="2025" b="1">
                <a:solidFill>
                  <a:srgbClr val="173B40"/>
                </a:solidFill>
                <a:latin typeface="Arial"/>
                <a:ea typeface="Arial"/>
                <a:cs typeface="Arial"/>
              </a:rPr>
              <a:t>Adjust future tasks</a:t>
            </a:r>
          </a:p>
        </p:txBody>
      </p:sp>
      <p:sp>
        <p:nvSpPr>
          <p:cNvPr id="16" name="Blend the personal&#10;pattern with the baseline.&#10;Show">
            <a:extLst xmlns:a="http://schemas.openxmlformats.org/drawingml/2006/main">
              <a:ext uri="{FF2B5EF4-FFF2-40B4-BE49-F238E27FC236}">
                <a16:creationId xmlns:a16="http://schemas.microsoft.com/office/drawing/2014/main" id="{26026AB1-FF57-4909-AD7F-37D4C24D4D21}"/>
              </a:ext>
            </a:extLst>
          </p:cNvPr>
          <p:cNvSpPr>
            <a:spLocks xmlns:a="http://schemas.openxmlformats.org/drawingml/2006/main" noGrp="1"/>
          </p:cNvSpPr>
          <p:nvPr/>
        </p:nvSpPr>
        <p:spPr>
          <a:xfrm xmlns:a="http://schemas.openxmlformats.org/drawingml/2006/main">
            <a:off x="9010650" y="3609975"/>
            <a:ext cx="2524125"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0">
                <a:solidFill>
                  <a:srgbClr val="596764"/>
                </a:solidFill>
                <a:latin typeface="Arial"/>
                <a:ea typeface="Arial"/>
                <a:cs typeface="Arial"/>
              </a:defRPr>
            </a:pPr>
            <a:r>
              <a:rPr sz="1800" b="0">
                <a:solidFill>
                  <a:srgbClr val="596764"/>
                </a:solidFill>
                <a:latin typeface="Arial"/>
                <a:ea typeface="Arial"/>
                <a:cs typeface="Arial"/>
              </a:rPr>
              <a:t>Blend the personal</a:t>
            </a:r>
          </a:p>
          <a:p xmlns:a="http://schemas.openxmlformats.org/drawingml/2006/main">
            <a:pPr>
              <a:defRPr sz="1800" b="0">
                <a:solidFill>
                  <a:srgbClr val="596764"/>
                </a:solidFill>
                <a:latin typeface="Arial"/>
                <a:ea typeface="Arial"/>
                <a:cs typeface="Arial"/>
              </a:defRPr>
            </a:pPr>
            <a:r>
              <a:rPr sz="1800" b="0">
                <a:solidFill>
                  <a:srgbClr val="596764"/>
                </a:solidFill>
                <a:latin typeface="Arial"/>
                <a:ea typeface="Arial"/>
                <a:cs typeface="Arial"/>
              </a:rPr>
              <a:t>pattern with the baseline.</a:t>
            </a:r>
          </a:p>
          <a:p xmlns:a="http://schemas.openxmlformats.org/drawingml/2006/main">
            <a:pPr>
              <a:defRPr sz="1800" b="0">
                <a:solidFill>
                  <a:srgbClr val="596764"/>
                </a:solidFill>
                <a:latin typeface="Arial"/>
                <a:ea typeface="Arial"/>
                <a:cs typeface="Arial"/>
              </a:defRPr>
            </a:pPr>
            <a:r>
              <a:rPr sz="1800" b="0">
                <a:solidFill>
                  <a:srgbClr val="596764"/>
                </a:solidFill>
                <a:latin typeface="Arial"/>
                <a:ea typeface="Arial"/>
                <a:cs typeface="Arial"/>
              </a:rPr>
              <a:t>Show an estimate range</a:t>
            </a:r>
          </a:p>
          <a:p xmlns:a="http://schemas.openxmlformats.org/drawingml/2006/main">
            <a:pPr>
              <a:defRPr sz="1800" b="0">
                <a:solidFill>
                  <a:srgbClr val="596764"/>
                </a:solidFill>
                <a:latin typeface="Arial"/>
                <a:ea typeface="Arial"/>
                <a:cs typeface="Arial"/>
              </a:defRPr>
            </a:pPr>
            <a:r>
              <a:rPr sz="1800" b="0">
                <a:solidFill>
                  <a:srgbClr val="596764"/>
                </a:solidFill>
                <a:latin typeface="Arial"/>
                <a:ea typeface="Arial"/>
                <a:cs typeface="Arial"/>
              </a:rPr>
              <a:t>and allow corrections.</a:t>
            </a:r>
          </a:p>
        </p:txBody>
      </p:sp>
      <p:sp>
        <p:nvSpPr>
          <p:cNvPr id="17" name="Task estimate = baseline effort × personal adjustm">
            <a:extLst xmlns:a="http://schemas.openxmlformats.org/drawingml/2006/main">
              <a:ext uri="{FF2B5EF4-FFF2-40B4-BE49-F238E27FC236}">
                <a16:creationId xmlns:a16="http://schemas.microsoft.com/office/drawing/2014/main" id="{06E283BC-70C0-4D06-A40B-CBCFB7ED1DFB}"/>
              </a:ext>
            </a:extLst>
          </p:cNvPr>
          <p:cNvSpPr>
            <a:spLocks xmlns:a="http://schemas.openxmlformats.org/drawingml/2006/main" noGrp="1"/>
          </p:cNvSpPr>
          <p:nvPr/>
        </p:nvSpPr>
        <p:spPr>
          <a:xfrm xmlns:a="http://schemas.openxmlformats.org/drawingml/2006/main">
            <a:off x="609600" y="5353050"/>
            <a:ext cx="109728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75" b="1">
                <a:solidFill>
                  <a:srgbClr val="173B40"/>
                </a:solidFill>
                <a:latin typeface="Arial"/>
                <a:ea typeface="Arial"/>
                <a:cs typeface="Arial"/>
              </a:defRPr>
            </a:pPr>
            <a:r>
              <a:rPr sz="2475" b="1">
                <a:solidFill>
                  <a:srgbClr val="173B40"/>
                </a:solidFill>
                <a:latin typeface="Arial"/>
                <a:ea typeface="Arial"/>
                <a:cs typeface="Arial"/>
              </a:rPr>
              <a:t>Task estimate = baseline effort × personal adjustment</a:t>
            </a:r>
          </a:p>
        </p:txBody>
      </p:sp>
      <p:sp>
        <p:nvSpPr>
          <p:cNvPr id="18" name="More completed comparable tasks give personal hist">
            <a:extLst xmlns:a="http://schemas.openxmlformats.org/drawingml/2006/main">
              <a:ext uri="{FF2B5EF4-FFF2-40B4-BE49-F238E27FC236}">
                <a16:creationId xmlns:a16="http://schemas.microsoft.com/office/drawing/2014/main" id="{88599609-9C32-48BC-AF0D-1080E38D925B}"/>
              </a:ext>
            </a:extLst>
          </p:cNvPr>
          <p:cNvSpPr>
            <a:spLocks xmlns:a="http://schemas.openxmlformats.org/drawingml/2006/main" noGrp="1"/>
          </p:cNvSpPr>
          <p:nvPr/>
        </p:nvSpPr>
        <p:spPr>
          <a:xfrm xmlns:a="http://schemas.openxmlformats.org/drawingml/2006/main">
            <a:off x="609600" y="5886450"/>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0">
                <a:solidFill>
                  <a:srgbClr val="596764"/>
                </a:solidFill>
                <a:latin typeface="Arial"/>
                <a:ea typeface="Arial"/>
                <a:cs typeface="Arial"/>
              </a:defRPr>
            </a:pPr>
            <a:r>
              <a:rPr sz="1800" b="0">
                <a:solidFill>
                  <a:srgbClr val="596764"/>
                </a:solidFill>
                <a:latin typeface="Arial"/>
                <a:ea typeface="Arial"/>
                <a:cs typeface="Arial"/>
              </a:rPr>
              <a:t>More completed comparable tasks give personal history more influence.</a:t>
            </a:r>
          </a:p>
        </p:txBody>
      </p:sp>
    </p:spTree>
    <p:extLst>
      <p:ext uri="{BB962C8B-B14F-4D97-AF65-F5344CB8AC3E}">
        <p14:creationId xmlns:p14="http://schemas.microsoft.com/office/powerpoint/2010/main" val="1418126149"/>
      </p:ext>
    </p:extLst>
  </p:cSld>
</p:sld>
</file>

<file path=ppt/slides/slide4.xml><?xml version="1.0" encoding="utf-8"?>
<p:sld xmlns:p="http://schemas.openxmlformats.org/presentationml/2006/main">
  <p:cSld>
    <p:bg>
      <p:bgPr>
        <a:solidFill xmlns:a="http://schemas.openxmlformats.org/drawingml/2006/main">
          <a:srgbClr val="173B40"/>
        </a:solidFill>
      </p:bgPr>
    </p:bg>
    <p:spTree>
      <p:nvGrpSpPr>
        <p:cNvPr id="1" name=""/>
        <p:cNvGrpSpPr/>
        <p:nvPr/>
      </p:nvGrpSpPr>
      <p:grpSpPr>
        <a:xfrm xmlns:a="http://schemas.openxmlformats.org/drawingml/2006/main"/>
      </p:grpSpPr>
      <p:sp>
        <p:nvSpPr>
          <p:cNvPr id="15" name="headroom.">
            <a:extLst xmlns:a="http://schemas.openxmlformats.org/drawingml/2006/main">
              <a:ext uri="{FF2B5EF4-FFF2-40B4-BE49-F238E27FC236}">
                <a16:creationId xmlns:a16="http://schemas.microsoft.com/office/drawing/2014/main" id="{D3C0F61F-3883-474B-89D8-BA11B3509ABC}"/>
              </a:ext>
            </a:extLst>
          </p:cNvPr>
          <p:cNvSpPr>
            <a:spLocks xmlns:a="http://schemas.openxmlformats.org/drawingml/2006/main" noGrp="1"/>
          </p:cNvSpPr>
          <p:nvPr/>
        </p:nvSpPr>
        <p:spPr>
          <a:xfrm xmlns:a="http://schemas.openxmlformats.org/drawingml/2006/main">
            <a:off x="609600" y="304800"/>
            <a:ext cx="2476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1">
                <a:solidFill>
                  <a:srgbClr val="D9F589"/>
                </a:solidFill>
                <a:latin typeface="Arial"/>
                <a:ea typeface="Arial"/>
                <a:cs typeface="Arial"/>
              </a:defRPr>
            </a:pPr>
            <a:r>
              <a:rPr sz="1800" b="1">
                <a:solidFill>
                  <a:srgbClr val="D9F589"/>
                </a:solidFill>
                <a:latin typeface="Arial"/>
                <a:ea typeface="Arial"/>
                <a:cs typeface="Arial"/>
              </a:rPr>
              <a:t>headroom.</a:t>
            </a:r>
          </a:p>
        </p:txBody>
      </p:sp>
      <p:sp>
        <p:nvSpPr>
          <p:cNvPr id="2" name="Turning effort estimates into weekly capacity">
            <a:extLst xmlns:a="http://schemas.openxmlformats.org/drawingml/2006/main">
              <a:ext uri="{FF2B5EF4-FFF2-40B4-BE49-F238E27FC236}">
                <a16:creationId xmlns:a16="http://schemas.microsoft.com/office/drawing/2014/main" id="{B2062595-FDC4-4449-AA84-3DA8C7E61EF4}"/>
              </a:ext>
            </a:extLst>
          </p:cNvPr>
          <p:cNvSpPr>
            <a:spLocks xmlns:a="http://schemas.openxmlformats.org/drawingml/2006/main" noGrp="1"/>
          </p:cNvSpPr>
          <p:nvPr/>
        </p:nvSpPr>
        <p:spPr>
          <a:xfrm xmlns:a="http://schemas.openxmlformats.org/drawingml/2006/main">
            <a:off x="609600" y="923925"/>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300" b="1">
                <a:solidFill>
                  <a:srgbClr val="FFFFFF"/>
                </a:solidFill>
                <a:latin typeface="Arial"/>
                <a:ea typeface="Arial"/>
                <a:cs typeface="Arial"/>
              </a:defRPr>
            </a:pPr>
            <a:r>
              <a:rPr sz="3300" b="1">
                <a:solidFill>
                  <a:srgbClr val="FFFFFF"/>
                </a:solidFill>
                <a:latin typeface="Arial"/>
                <a:ea typeface="Arial"/>
                <a:cs typeface="Arial"/>
              </a:rPr>
              <a:t>Turning effort estimates into weekly capacity</a:t>
            </a:r>
          </a:p>
        </p:txBody>
      </p:sp>
      <p:sp>
        <p:nvSpPr>
          <p:cNvPr id="3" name="Proposed product design   /   4 of 4">
            <a:extLst xmlns:a="http://schemas.openxmlformats.org/drawingml/2006/main">
              <a:ext uri="{FF2B5EF4-FFF2-40B4-BE49-F238E27FC236}">
                <a16:creationId xmlns:a16="http://schemas.microsoft.com/office/drawing/2014/main" id="{DB7FEAAF-40AD-4EDB-8FEC-B0A3417659FE}"/>
              </a:ext>
            </a:extLst>
          </p:cNvPr>
          <p:cNvSpPr>
            <a:spLocks xmlns:a="http://schemas.openxmlformats.org/drawingml/2006/main" noGrp="1"/>
          </p:cNvSpPr>
          <p:nvPr/>
        </p:nvSpPr>
        <p:spPr>
          <a:xfrm xmlns:a="http://schemas.openxmlformats.org/drawingml/2006/main">
            <a:off x="609600" y="6419850"/>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00" b="0">
                <a:solidFill>
                  <a:srgbClr val="D5E3E0"/>
                </a:solidFill>
                <a:latin typeface="Arial"/>
                <a:ea typeface="Arial"/>
                <a:cs typeface="Arial"/>
              </a:defRPr>
            </a:pPr>
            <a:r>
              <a:rPr sz="1200" b="0">
                <a:solidFill>
                  <a:srgbClr val="D5E3E0"/>
                </a:solidFill>
                <a:latin typeface="Arial"/>
                <a:ea typeface="Arial"/>
                <a:cs typeface="Arial"/>
              </a:rPr>
              <a:t>Proposed product design   /   4 of 4</a:t>
            </a:r>
          </a:p>
        </p:txBody>
      </p:sp>
      <p:sp>
        <p:nvSpPr>
          <p:cNvPr id="4" name="Illustrative example for Alex">
            <a:extLst xmlns:a="http://schemas.openxmlformats.org/drawingml/2006/main">
              <a:ext uri="{FF2B5EF4-FFF2-40B4-BE49-F238E27FC236}">
                <a16:creationId xmlns:a16="http://schemas.microsoft.com/office/drawing/2014/main" id="{37147D76-CE03-45B9-85AA-E1EA0B659CF2}"/>
              </a:ext>
            </a:extLst>
          </p:cNvPr>
          <p:cNvSpPr>
            <a:spLocks xmlns:a="http://schemas.openxmlformats.org/drawingml/2006/main" noGrp="1"/>
          </p:cNvSpPr>
          <p:nvPr/>
        </p:nvSpPr>
        <p:spPr>
          <a:xfrm xmlns:a="http://schemas.openxmlformats.org/drawingml/2006/main">
            <a:off x="609600" y="165735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950" b="0">
                <a:solidFill>
                  <a:srgbClr val="D5E3E0"/>
                </a:solidFill>
                <a:latin typeface="Arial"/>
                <a:ea typeface="Arial"/>
                <a:cs typeface="Arial"/>
              </a:defRPr>
            </a:pPr>
            <a:r>
              <a:rPr sz="1950" b="0">
                <a:solidFill>
                  <a:srgbClr val="D5E3E0"/>
                </a:solidFill>
                <a:latin typeface="Arial"/>
                <a:ea typeface="Arial"/>
                <a:cs typeface="Arial"/>
              </a:rPr>
              <a:t>Illustrative example for Alex</a:t>
            </a:r>
          </a:p>
        </p:txBody>
      </p:sp>
      <p:sp>
        <p:nvSpPr>
          <p:cNvPr id="5" name="A PERSONAL TASK ESTIMATE">
            <a:extLst xmlns:a="http://schemas.openxmlformats.org/drawingml/2006/main">
              <a:ext uri="{FF2B5EF4-FFF2-40B4-BE49-F238E27FC236}">
                <a16:creationId xmlns:a16="http://schemas.microsoft.com/office/drawing/2014/main" id="{2E2977E6-EE4A-4050-A2DE-8DB4694C0E67}"/>
              </a:ext>
            </a:extLst>
          </p:cNvPr>
          <p:cNvSpPr>
            <a:spLocks xmlns:a="http://schemas.openxmlformats.org/drawingml/2006/main" noGrp="1"/>
          </p:cNvSpPr>
          <p:nvPr/>
        </p:nvSpPr>
        <p:spPr>
          <a:xfrm xmlns:a="http://schemas.openxmlformats.org/drawingml/2006/main">
            <a:off x="609600" y="2409825"/>
            <a:ext cx="5048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650" b="1">
                <a:solidFill>
                  <a:srgbClr val="D9F589"/>
                </a:solidFill>
                <a:latin typeface="Arial"/>
                <a:ea typeface="Arial"/>
                <a:cs typeface="Arial"/>
              </a:defRPr>
            </a:pPr>
            <a:r>
              <a:rPr sz="1650" b="1">
                <a:solidFill>
                  <a:srgbClr val="D9F589"/>
                </a:solidFill>
                <a:latin typeface="Arial"/>
                <a:ea typeface="Arial"/>
                <a:cs typeface="Arial"/>
              </a:rPr>
              <a:t>A PERSONAL TASK ESTIMATE</a:t>
            </a:r>
          </a:p>
        </p:txBody>
      </p:sp>
      <p:sp>
        <p:nvSpPr>
          <p:cNvPr id="6" name="4h × 1.25 = 5h">
            <a:extLst xmlns:a="http://schemas.openxmlformats.org/drawingml/2006/main">
              <a:ext uri="{FF2B5EF4-FFF2-40B4-BE49-F238E27FC236}">
                <a16:creationId xmlns:a16="http://schemas.microsoft.com/office/drawing/2014/main" id="{9FD98BC3-6DF8-46E2-BC07-1E13B4FACAF3}"/>
              </a:ext>
            </a:extLst>
          </p:cNvPr>
          <p:cNvSpPr>
            <a:spLocks xmlns:a="http://schemas.openxmlformats.org/drawingml/2006/main" noGrp="1"/>
          </p:cNvSpPr>
          <p:nvPr/>
        </p:nvSpPr>
        <p:spPr>
          <a:xfrm xmlns:a="http://schemas.openxmlformats.org/drawingml/2006/main">
            <a:off x="609600" y="2914650"/>
            <a:ext cx="5143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4425" b="1">
                <a:solidFill>
                  <a:srgbClr val="FFFFFF"/>
                </a:solidFill>
                <a:latin typeface="Arial"/>
                <a:ea typeface="Arial"/>
                <a:cs typeface="Arial"/>
              </a:defRPr>
            </a:pPr>
            <a:r>
              <a:rPr sz="4425" b="1">
                <a:solidFill>
                  <a:srgbClr val="FFFFFF"/>
                </a:solidFill>
                <a:latin typeface="Arial"/>
                <a:ea typeface="Arial"/>
                <a:cs typeface="Arial"/>
              </a:rPr>
              <a:t>4h × 1.25 = 5h</a:t>
            </a:r>
          </a:p>
        </p:txBody>
      </p:sp>
      <p:sp>
        <p:nvSpPr>
          <p:cNvPr id="7" name="Baseline × learned adjustment">
            <a:extLst xmlns:a="http://schemas.openxmlformats.org/drawingml/2006/main">
              <a:ext uri="{FF2B5EF4-FFF2-40B4-BE49-F238E27FC236}">
                <a16:creationId xmlns:a16="http://schemas.microsoft.com/office/drawing/2014/main" id="{76F30E48-636D-44C2-9223-14020638948F}"/>
              </a:ext>
            </a:extLst>
          </p:cNvPr>
          <p:cNvSpPr>
            <a:spLocks xmlns:a="http://schemas.openxmlformats.org/drawingml/2006/main" noGrp="1"/>
          </p:cNvSpPr>
          <p:nvPr/>
        </p:nvSpPr>
        <p:spPr>
          <a:xfrm xmlns:a="http://schemas.openxmlformats.org/drawingml/2006/main">
            <a:off x="609600" y="3905250"/>
            <a:ext cx="50482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950" b="0">
                <a:solidFill>
                  <a:srgbClr val="D5E3E0"/>
                </a:solidFill>
                <a:latin typeface="Arial"/>
                <a:ea typeface="Arial"/>
                <a:cs typeface="Arial"/>
              </a:defRPr>
            </a:pPr>
            <a:r>
              <a:rPr sz="1950" b="0">
                <a:solidFill>
                  <a:srgbClr val="D5E3E0"/>
                </a:solidFill>
                <a:latin typeface="Arial"/>
                <a:ea typeface="Arial"/>
                <a:cs typeface="Arial"/>
              </a:rPr>
              <a:t>Baseline × learned adjustment</a:t>
            </a:r>
          </a:p>
        </p:txBody>
      </p:sp>
      <p:sp>
        <p:nvSpPr>
          <p:cNvPr id="8" name="Five similar tasks took 1.5× their baseline.&#10;Blend">
            <a:extLst xmlns:a="http://schemas.openxmlformats.org/drawingml/2006/main">
              <a:ext uri="{FF2B5EF4-FFF2-40B4-BE49-F238E27FC236}">
                <a16:creationId xmlns:a16="http://schemas.microsoft.com/office/drawing/2014/main" id="{888BAFDF-43BD-4FB4-A47D-CE8DF39D53FF}"/>
              </a:ext>
            </a:extLst>
          </p:cNvPr>
          <p:cNvSpPr>
            <a:spLocks xmlns:a="http://schemas.openxmlformats.org/drawingml/2006/main" noGrp="1"/>
          </p:cNvSpPr>
          <p:nvPr/>
        </p:nvSpPr>
        <p:spPr>
          <a:xfrm xmlns:a="http://schemas.openxmlformats.org/drawingml/2006/main">
            <a:off x="609600" y="4429125"/>
            <a:ext cx="514350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0">
                <a:solidFill>
                  <a:srgbClr val="D5E3E0"/>
                </a:solidFill>
                <a:latin typeface="Arial"/>
                <a:ea typeface="Arial"/>
                <a:cs typeface="Arial"/>
              </a:defRPr>
            </a:pPr>
            <a:r>
              <a:rPr sz="1800" b="0">
                <a:solidFill>
                  <a:srgbClr val="D5E3E0"/>
                </a:solidFill>
                <a:latin typeface="Arial"/>
                <a:ea typeface="Arial"/>
                <a:cs typeface="Arial"/>
              </a:rPr>
              <a:t>Five similar tasks took 1.5× their baseline.</a:t>
            </a:r>
          </a:p>
          <a:p xmlns:a="http://schemas.openxmlformats.org/drawingml/2006/main">
            <a:pPr>
              <a:defRPr sz="1800" b="0">
                <a:solidFill>
                  <a:srgbClr val="D5E3E0"/>
                </a:solidFill>
                <a:latin typeface="Arial"/>
                <a:ea typeface="Arial"/>
                <a:cs typeface="Arial"/>
              </a:defRPr>
            </a:pPr>
            <a:r>
              <a:rPr sz="1800" b="0">
                <a:solidFill>
                  <a:srgbClr val="D5E3E0"/>
                </a:solidFill>
                <a:latin typeface="Arial"/>
                <a:ea typeface="Arial"/>
                <a:cs typeface="Arial"/>
              </a:rPr>
              <a:t>Blending personal history with the starting</a:t>
            </a:r>
          </a:p>
          <a:p xmlns:a="http://schemas.openxmlformats.org/drawingml/2006/main">
            <a:pPr>
              <a:defRPr sz="1800" b="0">
                <a:solidFill>
                  <a:srgbClr val="D5E3E0"/>
                </a:solidFill>
                <a:latin typeface="Arial"/>
                <a:ea typeface="Arial"/>
                <a:cs typeface="Arial"/>
              </a:defRPr>
            </a:pPr>
            <a:r>
              <a:rPr sz="1800" b="0">
                <a:solidFill>
                  <a:srgbClr val="D5E3E0"/>
                </a:solidFill>
                <a:latin typeface="Arial"/>
                <a:ea typeface="Arial"/>
                <a:cs typeface="Arial"/>
              </a:rPr>
              <a:t>baseline gives a cautious 1.25× adjustment.</a:t>
            </a:r>
          </a:p>
        </p:txBody>
      </p:sp>
      <p:sp>
        <p:nvSpPr>
          <p:cNvPr id="9" name="TIME AVAILABLE THIS WEEK">
            <a:extLst xmlns:a="http://schemas.openxmlformats.org/drawingml/2006/main">
              <a:ext uri="{FF2B5EF4-FFF2-40B4-BE49-F238E27FC236}">
                <a16:creationId xmlns:a16="http://schemas.microsoft.com/office/drawing/2014/main" id="{FACE2BF4-BC58-48EB-843B-86A965CCAF43}"/>
              </a:ext>
            </a:extLst>
          </p:cNvPr>
          <p:cNvSpPr>
            <a:spLocks xmlns:a="http://schemas.openxmlformats.org/drawingml/2006/main" noGrp="1"/>
          </p:cNvSpPr>
          <p:nvPr/>
        </p:nvSpPr>
        <p:spPr>
          <a:xfrm xmlns:a="http://schemas.openxmlformats.org/drawingml/2006/main">
            <a:off x="6591300" y="2409825"/>
            <a:ext cx="4953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650" b="1">
                <a:solidFill>
                  <a:srgbClr val="D9F589"/>
                </a:solidFill>
                <a:latin typeface="Arial"/>
                <a:ea typeface="Arial"/>
                <a:cs typeface="Arial"/>
              </a:defRPr>
            </a:pPr>
            <a:r>
              <a:rPr sz="1650" b="1">
                <a:solidFill>
                  <a:srgbClr val="D9F589"/>
                </a:solidFill>
                <a:latin typeface="Arial"/>
                <a:ea typeface="Arial"/>
                <a:cs typeface="Arial"/>
              </a:rPr>
              <a:t>TIME AVAILABLE THIS WEEK</a:t>
            </a:r>
          </a:p>
        </p:txBody>
      </p:sp>
      <p:sp>
        <p:nvSpPr>
          <p:cNvPr id="10" name="40h − 6h − 4h − 3h = 27h">
            <a:extLst xmlns:a="http://schemas.openxmlformats.org/drawingml/2006/main">
              <a:ext uri="{FF2B5EF4-FFF2-40B4-BE49-F238E27FC236}">
                <a16:creationId xmlns:a16="http://schemas.microsoft.com/office/drawing/2014/main" id="{471742AE-6EBD-4477-96CA-9418FA112A0E}"/>
              </a:ext>
            </a:extLst>
          </p:cNvPr>
          <p:cNvSpPr>
            <a:spLocks xmlns:a="http://schemas.openxmlformats.org/drawingml/2006/main" noGrp="1"/>
          </p:cNvSpPr>
          <p:nvPr/>
        </p:nvSpPr>
        <p:spPr>
          <a:xfrm xmlns:a="http://schemas.openxmlformats.org/drawingml/2006/main">
            <a:off x="6591300" y="2962275"/>
            <a:ext cx="5000625"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700" b="1">
                <a:solidFill>
                  <a:srgbClr val="FFFFFF"/>
                </a:solidFill>
                <a:latin typeface="Arial"/>
                <a:ea typeface="Arial"/>
                <a:cs typeface="Arial"/>
              </a:defRPr>
            </a:pPr>
            <a:r>
              <a:rPr sz="2700" b="1">
                <a:solidFill>
                  <a:srgbClr val="FFFFFF"/>
                </a:solidFill>
                <a:latin typeface="Arial"/>
                <a:ea typeface="Arial"/>
                <a:cs typeface="Arial"/>
              </a:rPr>
              <a:t>40h − 6h − 4h − 3h = 27h</a:t>
            </a:r>
          </a:p>
        </p:txBody>
      </p:sp>
      <p:sp>
        <p:nvSpPr>
          <p:cNvPr id="11" name="Work hours less meetings, leave&#10;and an agreed buff">
            <a:extLst xmlns:a="http://schemas.openxmlformats.org/drawingml/2006/main">
              <a:ext uri="{FF2B5EF4-FFF2-40B4-BE49-F238E27FC236}">
                <a16:creationId xmlns:a16="http://schemas.microsoft.com/office/drawing/2014/main" id="{D6202507-DCB8-4707-BBB0-9F9A5E610B1C}"/>
              </a:ext>
            </a:extLst>
          </p:cNvPr>
          <p:cNvSpPr>
            <a:spLocks xmlns:a="http://schemas.openxmlformats.org/drawingml/2006/main" noGrp="1"/>
          </p:cNvSpPr>
          <p:nvPr/>
        </p:nvSpPr>
        <p:spPr>
          <a:xfrm xmlns:a="http://schemas.openxmlformats.org/drawingml/2006/main">
            <a:off x="6591300" y="3733800"/>
            <a:ext cx="49530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950" b="0">
                <a:solidFill>
                  <a:srgbClr val="D5E3E0"/>
                </a:solidFill>
                <a:latin typeface="Arial"/>
                <a:ea typeface="Arial"/>
                <a:cs typeface="Arial"/>
              </a:defRPr>
            </a:pPr>
            <a:r>
              <a:rPr sz="1950" b="0">
                <a:solidFill>
                  <a:srgbClr val="D5E3E0"/>
                </a:solidFill>
                <a:latin typeface="Arial"/>
                <a:ea typeface="Arial"/>
                <a:cs typeface="Arial"/>
              </a:rPr>
              <a:t>Work hours less meetings, leave</a:t>
            </a:r>
          </a:p>
          <a:p xmlns:a="http://schemas.openxmlformats.org/drawingml/2006/main">
            <a:pPr>
              <a:defRPr sz="1950" b="0">
                <a:solidFill>
                  <a:srgbClr val="D5E3E0"/>
                </a:solidFill>
                <a:latin typeface="Arial"/>
                <a:ea typeface="Arial"/>
                <a:cs typeface="Arial"/>
              </a:defRPr>
            </a:pPr>
            <a:r>
              <a:rPr sz="1950" b="0">
                <a:solidFill>
                  <a:srgbClr val="D5E3E0"/>
                </a:solidFill>
                <a:latin typeface="Arial"/>
                <a:ea typeface="Arial"/>
                <a:cs typeface="Arial"/>
              </a:rPr>
              <a:t>and an agreed buffer</a:t>
            </a:r>
          </a:p>
        </p:txBody>
      </p:sp>
      <p:sp>
        <p:nvSpPr>
          <p:cNvPr id="12" name="24h planned + 5h new = 29h">
            <a:extLst xmlns:a="http://schemas.openxmlformats.org/drawingml/2006/main">
              <a:ext uri="{FF2B5EF4-FFF2-40B4-BE49-F238E27FC236}">
                <a16:creationId xmlns:a16="http://schemas.microsoft.com/office/drawing/2014/main" id="{B566572E-3495-4CB4-8B7D-FC250EBBB95C}"/>
              </a:ext>
            </a:extLst>
          </p:cNvPr>
          <p:cNvSpPr>
            <a:spLocks xmlns:a="http://schemas.openxmlformats.org/drawingml/2006/main" noGrp="1"/>
          </p:cNvSpPr>
          <p:nvPr/>
        </p:nvSpPr>
        <p:spPr>
          <a:xfrm xmlns:a="http://schemas.openxmlformats.org/drawingml/2006/main">
            <a:off x="6591300" y="4733925"/>
            <a:ext cx="4953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325" b="1">
                <a:solidFill>
                  <a:srgbClr val="FFFFFF"/>
                </a:solidFill>
                <a:latin typeface="Arial"/>
                <a:ea typeface="Arial"/>
                <a:cs typeface="Arial"/>
              </a:defRPr>
            </a:pPr>
            <a:r>
              <a:rPr sz="2325" b="1">
                <a:solidFill>
                  <a:srgbClr val="FFFFFF"/>
                </a:solidFill>
                <a:latin typeface="Arial"/>
                <a:ea typeface="Arial"/>
                <a:cs typeface="Arial"/>
              </a:rPr>
              <a:t>24h planned + 5h new = 29h</a:t>
            </a:r>
          </a:p>
        </p:txBody>
      </p:sp>
      <p:sp>
        <p:nvSpPr>
          <p:cNvPr id="13" name="2h over capacity">
            <a:extLst xmlns:a="http://schemas.openxmlformats.org/drawingml/2006/main">
              <a:ext uri="{FF2B5EF4-FFF2-40B4-BE49-F238E27FC236}">
                <a16:creationId xmlns:a16="http://schemas.microsoft.com/office/drawing/2014/main" id="{41D892E2-D796-434F-88F3-8B25AB108022}"/>
              </a:ext>
            </a:extLst>
          </p:cNvPr>
          <p:cNvSpPr>
            <a:spLocks xmlns:a="http://schemas.openxmlformats.org/drawingml/2006/main" noGrp="1"/>
          </p:cNvSpPr>
          <p:nvPr/>
        </p:nvSpPr>
        <p:spPr>
          <a:xfrm xmlns:a="http://schemas.openxmlformats.org/drawingml/2006/main">
            <a:off x="6591300" y="5286375"/>
            <a:ext cx="4953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625" b="1">
                <a:solidFill>
                  <a:srgbClr val="D9F589"/>
                </a:solidFill>
                <a:latin typeface="Arial"/>
                <a:ea typeface="Arial"/>
                <a:cs typeface="Arial"/>
              </a:defRPr>
            </a:pPr>
            <a:r>
              <a:rPr sz="2625" b="1">
                <a:solidFill>
                  <a:srgbClr val="D9F589"/>
                </a:solidFill>
                <a:latin typeface="Arial"/>
                <a:ea typeface="Arial"/>
                <a:cs typeface="Arial"/>
              </a:rPr>
              <a:t>2h over capacity</a:t>
            </a:r>
          </a:p>
        </p:txBody>
      </p:sp>
      <p:sp>
        <p:nvSpPr>
          <p:cNvPr id="14" name="Headroom proposes moving work, reducing scope or r">
            <a:extLst xmlns:a="http://schemas.openxmlformats.org/drawingml/2006/main">
              <a:ext uri="{FF2B5EF4-FFF2-40B4-BE49-F238E27FC236}">
                <a16:creationId xmlns:a16="http://schemas.microsoft.com/office/drawing/2014/main" id="{81A5D0D2-5F21-4F1C-AA9B-C56E1BA491CD}"/>
              </a:ext>
            </a:extLst>
          </p:cNvPr>
          <p:cNvSpPr>
            <a:spLocks xmlns:a="http://schemas.openxmlformats.org/drawingml/2006/main" noGrp="1"/>
          </p:cNvSpPr>
          <p:nvPr/>
        </p:nvSpPr>
        <p:spPr>
          <a:xfrm xmlns:a="http://schemas.openxmlformats.org/drawingml/2006/main">
            <a:off x="609600" y="596265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725" b="0">
                <a:solidFill>
                  <a:srgbClr val="FFFFFF"/>
                </a:solidFill>
                <a:latin typeface="Arial"/>
                <a:ea typeface="Arial"/>
                <a:cs typeface="Arial"/>
              </a:defRPr>
            </a:pPr>
            <a:r>
              <a:rPr sz="1725" b="0">
                <a:solidFill>
                  <a:srgbClr val="FFFFFF"/>
                </a:solidFill>
                <a:latin typeface="Arial"/>
                <a:ea typeface="Arial"/>
                <a:cs typeface="Arial"/>
              </a:rPr>
              <a:t>Headroom proposes moving work, reducing scope or reassigning. People approve the change.</a:t>
            </a:r>
          </a:p>
        </p:txBody>
      </p:sp>
    </p:spTree>
    <p:extLst>
      <p:ext uri="{BB962C8B-B14F-4D97-AF65-F5344CB8AC3E}">
        <p14:creationId xmlns:p14="http://schemas.microsoft.com/office/powerpoint/2010/main" val="87803445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2026-09-22T06:53:30.0210000Z</dcterms:created>
  <dcterms:modified xsi:type="dcterms:W3CDTF">2026-09-22T06:53:30.0210000Z</dcterms:modified>
</coreProperties>
</file>